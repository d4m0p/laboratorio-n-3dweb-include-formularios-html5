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4" r:id="rId3"/>
    <p:sldId id="315" r:id="rId4"/>
    <p:sldId id="319" r:id="rId5"/>
    <p:sldId id="325" r:id="rId6"/>
    <p:sldId id="326" r:id="rId7"/>
    <p:sldId id="327" r:id="rId8"/>
    <p:sldId id="307" r:id="rId9"/>
    <p:sldId id="314" r:id="rId10"/>
    <p:sldId id="308" r:id="rId11"/>
    <p:sldId id="313" r:id="rId12"/>
    <p:sldId id="309" r:id="rId13"/>
    <p:sldId id="320" r:id="rId14"/>
    <p:sldId id="321" r:id="rId15"/>
    <p:sldId id="316" r:id="rId16"/>
    <p:sldId id="317" r:id="rId17"/>
    <p:sldId id="318" r:id="rId18"/>
    <p:sldId id="322" r:id="rId19"/>
    <p:sldId id="328" r:id="rId20"/>
    <p:sldId id="323" r:id="rId21"/>
  </p:sldIdLst>
  <p:sldSz cx="12192000" cy="6858000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9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9924EA-A8BC-4778-B31C-1940E28022EB}" type="doc">
      <dgm:prSet loTypeId="urn:microsoft.com/office/officeart/2005/8/layout/hierarchy3" loCatId="hierarchy" qsTypeId="urn:microsoft.com/office/officeart/2005/8/quickstyle/simple2#2" qsCatId="simple" csTypeId="urn:microsoft.com/office/officeart/2005/8/colors/colorful2#3" csCatId="colorful"/>
      <dgm:spPr/>
      <dgm:t>
        <a:bodyPr/>
        <a:lstStyle/>
        <a:p>
          <a:endParaRPr lang="en-US"/>
        </a:p>
      </dgm:t>
    </dgm:pt>
    <dgm:pt modelId="{7FDC9307-A744-41C4-9E24-93BC5D4CEF11}">
      <dgm:prSet/>
      <dgm:spPr/>
      <dgm:t>
        <a:bodyPr/>
        <a:lstStyle/>
        <a:p>
          <a:r>
            <a:rPr lang="es-PA"/>
            <a:t>Navegación</a:t>
          </a:r>
          <a:endParaRPr lang="en-US"/>
        </a:p>
      </dgm:t>
    </dgm:pt>
    <dgm:pt modelId="{595E52E9-BB73-40F1-A6CE-814C87F07102}" type="parTrans" cxnId="{569F2570-7252-4646-AA89-C58C0ADAB4F1}">
      <dgm:prSet/>
      <dgm:spPr/>
      <dgm:t>
        <a:bodyPr/>
        <a:lstStyle/>
        <a:p>
          <a:endParaRPr lang="en-US"/>
        </a:p>
      </dgm:t>
    </dgm:pt>
    <dgm:pt modelId="{5776BDD4-EA8C-456B-B355-08A6A629039D}" type="sibTrans" cxnId="{569F2570-7252-4646-AA89-C58C0ADAB4F1}">
      <dgm:prSet/>
      <dgm:spPr/>
      <dgm:t>
        <a:bodyPr/>
        <a:lstStyle/>
        <a:p>
          <a:endParaRPr lang="en-US"/>
        </a:p>
      </dgm:t>
    </dgm:pt>
    <dgm:pt modelId="{9F933A69-5DB4-44F8-A114-6C14EC733775}">
      <dgm:prSet/>
      <dgm:spPr/>
      <dgm:t>
        <a:bodyPr/>
        <a:lstStyle/>
        <a:p>
          <a:r>
            <a:rPr lang="es-PA"/>
            <a:t>Footer</a:t>
          </a:r>
          <a:endParaRPr lang="en-US"/>
        </a:p>
      </dgm:t>
    </dgm:pt>
    <dgm:pt modelId="{359C2BA9-4551-480E-98A1-5EAF81849CFB}" type="parTrans" cxnId="{FC952294-8FB4-4A90-860C-E209E1D8FB25}">
      <dgm:prSet/>
      <dgm:spPr/>
      <dgm:t>
        <a:bodyPr/>
        <a:lstStyle/>
        <a:p>
          <a:endParaRPr lang="en-US"/>
        </a:p>
      </dgm:t>
    </dgm:pt>
    <dgm:pt modelId="{E1723A3B-1E4D-43D7-B779-32E4E2AF3703}" type="sibTrans" cxnId="{FC952294-8FB4-4A90-860C-E209E1D8FB25}">
      <dgm:prSet/>
      <dgm:spPr/>
      <dgm:t>
        <a:bodyPr/>
        <a:lstStyle/>
        <a:p>
          <a:endParaRPr lang="en-US"/>
        </a:p>
      </dgm:t>
    </dgm:pt>
    <dgm:pt modelId="{47A11AD2-B344-4EC3-9355-4AA5B1EF077A}">
      <dgm:prSet/>
      <dgm:spPr/>
      <dgm:t>
        <a:bodyPr/>
        <a:lstStyle/>
        <a:p>
          <a:r>
            <a:rPr lang="es-PA"/>
            <a:t>El formulario</a:t>
          </a:r>
          <a:endParaRPr lang="en-US"/>
        </a:p>
      </dgm:t>
    </dgm:pt>
    <dgm:pt modelId="{075A584E-661D-4802-A8C3-34684072B5C7}" type="parTrans" cxnId="{837A6BD5-7329-4323-9D99-AAF1BC01DBE1}">
      <dgm:prSet/>
      <dgm:spPr/>
      <dgm:t>
        <a:bodyPr/>
        <a:lstStyle/>
        <a:p>
          <a:endParaRPr lang="en-US"/>
        </a:p>
      </dgm:t>
    </dgm:pt>
    <dgm:pt modelId="{BA16E77A-C786-454E-87B5-C1307B9B6776}" type="sibTrans" cxnId="{837A6BD5-7329-4323-9D99-AAF1BC01DBE1}">
      <dgm:prSet/>
      <dgm:spPr/>
      <dgm:t>
        <a:bodyPr/>
        <a:lstStyle/>
        <a:p>
          <a:endParaRPr lang="en-US"/>
        </a:p>
      </dgm:t>
    </dgm:pt>
    <dgm:pt modelId="{34E627B8-4301-4E24-8B6F-BC32E7DA1D81}" type="pres">
      <dgm:prSet presAssocID="{6B9924EA-A8BC-4778-B31C-1940E28022E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26DFB78-E63A-4276-A457-ED7E0027EB1F}" type="pres">
      <dgm:prSet presAssocID="{7FDC9307-A744-41C4-9E24-93BC5D4CEF11}" presName="root" presStyleCnt="0"/>
      <dgm:spPr/>
    </dgm:pt>
    <dgm:pt modelId="{A1EB0156-A9BF-43B6-B600-BD43C9BBAA3A}" type="pres">
      <dgm:prSet presAssocID="{7FDC9307-A744-41C4-9E24-93BC5D4CEF11}" presName="rootComposite" presStyleCnt="0"/>
      <dgm:spPr/>
    </dgm:pt>
    <dgm:pt modelId="{FDA92EA6-5BBF-44B2-B236-B586177D873C}" type="pres">
      <dgm:prSet presAssocID="{7FDC9307-A744-41C4-9E24-93BC5D4CEF11}" presName="rootText" presStyleLbl="node1" presStyleIdx="0" presStyleCnt="3"/>
      <dgm:spPr/>
    </dgm:pt>
    <dgm:pt modelId="{6C7E159C-ECDD-4748-ADEF-B5950A6CBD5A}" type="pres">
      <dgm:prSet presAssocID="{7FDC9307-A744-41C4-9E24-93BC5D4CEF11}" presName="rootConnector" presStyleLbl="node1" presStyleIdx="0" presStyleCnt="3"/>
      <dgm:spPr/>
    </dgm:pt>
    <dgm:pt modelId="{5A35987F-CE00-4029-B383-E9B10924CD3C}" type="pres">
      <dgm:prSet presAssocID="{7FDC9307-A744-41C4-9E24-93BC5D4CEF11}" presName="childShape" presStyleCnt="0"/>
      <dgm:spPr/>
    </dgm:pt>
    <dgm:pt modelId="{27F27009-D887-40EB-89A8-059E8D373EF8}" type="pres">
      <dgm:prSet presAssocID="{9F933A69-5DB4-44F8-A114-6C14EC733775}" presName="root" presStyleCnt="0"/>
      <dgm:spPr/>
    </dgm:pt>
    <dgm:pt modelId="{68A3DDD3-7129-4488-9FED-49C36336BC82}" type="pres">
      <dgm:prSet presAssocID="{9F933A69-5DB4-44F8-A114-6C14EC733775}" presName="rootComposite" presStyleCnt="0"/>
      <dgm:spPr/>
    </dgm:pt>
    <dgm:pt modelId="{939C0526-6D1B-4C99-A71A-39B5C53DD2D6}" type="pres">
      <dgm:prSet presAssocID="{9F933A69-5DB4-44F8-A114-6C14EC733775}" presName="rootText" presStyleLbl="node1" presStyleIdx="1" presStyleCnt="3"/>
      <dgm:spPr/>
    </dgm:pt>
    <dgm:pt modelId="{EF63EFB0-E3DF-41B0-B959-BB166A07FACC}" type="pres">
      <dgm:prSet presAssocID="{9F933A69-5DB4-44F8-A114-6C14EC733775}" presName="rootConnector" presStyleLbl="node1" presStyleIdx="1" presStyleCnt="3"/>
      <dgm:spPr/>
    </dgm:pt>
    <dgm:pt modelId="{8B962FA9-B780-445A-B921-43BA917592D7}" type="pres">
      <dgm:prSet presAssocID="{9F933A69-5DB4-44F8-A114-6C14EC733775}" presName="childShape" presStyleCnt="0"/>
      <dgm:spPr/>
    </dgm:pt>
    <dgm:pt modelId="{500A14C8-5F20-4B59-A20C-19893CE9B0AE}" type="pres">
      <dgm:prSet presAssocID="{47A11AD2-B344-4EC3-9355-4AA5B1EF077A}" presName="root" presStyleCnt="0"/>
      <dgm:spPr/>
    </dgm:pt>
    <dgm:pt modelId="{179F2EFF-C715-4008-919C-5BFFF68B892D}" type="pres">
      <dgm:prSet presAssocID="{47A11AD2-B344-4EC3-9355-4AA5B1EF077A}" presName="rootComposite" presStyleCnt="0"/>
      <dgm:spPr/>
    </dgm:pt>
    <dgm:pt modelId="{54D3B20F-E2A5-4C38-BEBC-8629972ADA66}" type="pres">
      <dgm:prSet presAssocID="{47A11AD2-B344-4EC3-9355-4AA5B1EF077A}" presName="rootText" presStyleLbl="node1" presStyleIdx="2" presStyleCnt="3"/>
      <dgm:spPr/>
    </dgm:pt>
    <dgm:pt modelId="{D01D11E6-3E8F-4808-836F-9B0DEDF7D55B}" type="pres">
      <dgm:prSet presAssocID="{47A11AD2-B344-4EC3-9355-4AA5B1EF077A}" presName="rootConnector" presStyleLbl="node1" presStyleIdx="2" presStyleCnt="3"/>
      <dgm:spPr/>
    </dgm:pt>
    <dgm:pt modelId="{389411FA-9BD3-49A0-9704-2AC3291CC1FF}" type="pres">
      <dgm:prSet presAssocID="{47A11AD2-B344-4EC3-9355-4AA5B1EF077A}" presName="childShape" presStyleCnt="0"/>
      <dgm:spPr/>
    </dgm:pt>
  </dgm:ptLst>
  <dgm:cxnLst>
    <dgm:cxn modelId="{FC7A5305-5943-471F-9FC4-E2F8AC74503C}" type="presOf" srcId="{47A11AD2-B344-4EC3-9355-4AA5B1EF077A}" destId="{54D3B20F-E2A5-4C38-BEBC-8629972ADA66}" srcOrd="0" destOrd="0" presId="urn:microsoft.com/office/officeart/2005/8/layout/hierarchy3"/>
    <dgm:cxn modelId="{6E5A0A0D-40DC-424E-988F-E3165EF5E4FF}" type="presOf" srcId="{7FDC9307-A744-41C4-9E24-93BC5D4CEF11}" destId="{FDA92EA6-5BBF-44B2-B236-B586177D873C}" srcOrd="0" destOrd="0" presId="urn:microsoft.com/office/officeart/2005/8/layout/hierarchy3"/>
    <dgm:cxn modelId="{13174069-86BC-46D1-8CBD-B2BE7D16CFBB}" type="presOf" srcId="{9F933A69-5DB4-44F8-A114-6C14EC733775}" destId="{EF63EFB0-E3DF-41B0-B959-BB166A07FACC}" srcOrd="1" destOrd="0" presId="urn:microsoft.com/office/officeart/2005/8/layout/hierarchy3"/>
    <dgm:cxn modelId="{569F2570-7252-4646-AA89-C58C0ADAB4F1}" srcId="{6B9924EA-A8BC-4778-B31C-1940E28022EB}" destId="{7FDC9307-A744-41C4-9E24-93BC5D4CEF11}" srcOrd="0" destOrd="0" parTransId="{595E52E9-BB73-40F1-A6CE-814C87F07102}" sibTransId="{5776BDD4-EA8C-456B-B355-08A6A629039D}"/>
    <dgm:cxn modelId="{9EAD007D-7F81-4457-BCAF-536074CB8620}" type="presOf" srcId="{47A11AD2-B344-4EC3-9355-4AA5B1EF077A}" destId="{D01D11E6-3E8F-4808-836F-9B0DEDF7D55B}" srcOrd="1" destOrd="0" presId="urn:microsoft.com/office/officeart/2005/8/layout/hierarchy3"/>
    <dgm:cxn modelId="{FC952294-8FB4-4A90-860C-E209E1D8FB25}" srcId="{6B9924EA-A8BC-4778-B31C-1940E28022EB}" destId="{9F933A69-5DB4-44F8-A114-6C14EC733775}" srcOrd="1" destOrd="0" parTransId="{359C2BA9-4551-480E-98A1-5EAF81849CFB}" sibTransId="{E1723A3B-1E4D-43D7-B779-32E4E2AF3703}"/>
    <dgm:cxn modelId="{A3C4ABA5-C697-43F8-A9AF-BF9E1E4159F7}" type="presOf" srcId="{9F933A69-5DB4-44F8-A114-6C14EC733775}" destId="{939C0526-6D1B-4C99-A71A-39B5C53DD2D6}" srcOrd="0" destOrd="0" presId="urn:microsoft.com/office/officeart/2005/8/layout/hierarchy3"/>
    <dgm:cxn modelId="{4632D2A7-3D96-4DA0-897E-43FEA536E725}" type="presOf" srcId="{6B9924EA-A8BC-4778-B31C-1940E28022EB}" destId="{34E627B8-4301-4E24-8B6F-BC32E7DA1D81}" srcOrd="0" destOrd="0" presId="urn:microsoft.com/office/officeart/2005/8/layout/hierarchy3"/>
    <dgm:cxn modelId="{72352CBD-9FB7-4DC7-B7A7-D4517467E29A}" type="presOf" srcId="{7FDC9307-A744-41C4-9E24-93BC5D4CEF11}" destId="{6C7E159C-ECDD-4748-ADEF-B5950A6CBD5A}" srcOrd="1" destOrd="0" presId="urn:microsoft.com/office/officeart/2005/8/layout/hierarchy3"/>
    <dgm:cxn modelId="{837A6BD5-7329-4323-9D99-AAF1BC01DBE1}" srcId="{6B9924EA-A8BC-4778-B31C-1940E28022EB}" destId="{47A11AD2-B344-4EC3-9355-4AA5B1EF077A}" srcOrd="2" destOrd="0" parTransId="{075A584E-661D-4802-A8C3-34684072B5C7}" sibTransId="{BA16E77A-C786-454E-87B5-C1307B9B6776}"/>
    <dgm:cxn modelId="{DEC76FAC-402C-4E7A-BF6E-7424BAC6ED4A}" type="presParOf" srcId="{34E627B8-4301-4E24-8B6F-BC32E7DA1D81}" destId="{126DFB78-E63A-4276-A457-ED7E0027EB1F}" srcOrd="0" destOrd="0" presId="urn:microsoft.com/office/officeart/2005/8/layout/hierarchy3"/>
    <dgm:cxn modelId="{43E11703-7C3C-48FC-AD20-886605A89BC2}" type="presParOf" srcId="{126DFB78-E63A-4276-A457-ED7E0027EB1F}" destId="{A1EB0156-A9BF-43B6-B600-BD43C9BBAA3A}" srcOrd="0" destOrd="0" presId="urn:microsoft.com/office/officeart/2005/8/layout/hierarchy3"/>
    <dgm:cxn modelId="{FBF4FDA2-CAC2-4425-A5B7-7E02DC351F4B}" type="presParOf" srcId="{A1EB0156-A9BF-43B6-B600-BD43C9BBAA3A}" destId="{FDA92EA6-5BBF-44B2-B236-B586177D873C}" srcOrd="0" destOrd="0" presId="urn:microsoft.com/office/officeart/2005/8/layout/hierarchy3"/>
    <dgm:cxn modelId="{4885703E-F187-4D3A-B07E-BF5E0F6D8AAA}" type="presParOf" srcId="{A1EB0156-A9BF-43B6-B600-BD43C9BBAA3A}" destId="{6C7E159C-ECDD-4748-ADEF-B5950A6CBD5A}" srcOrd="1" destOrd="0" presId="urn:microsoft.com/office/officeart/2005/8/layout/hierarchy3"/>
    <dgm:cxn modelId="{A5E4483D-6ACA-423A-B0B4-C30F102382A2}" type="presParOf" srcId="{126DFB78-E63A-4276-A457-ED7E0027EB1F}" destId="{5A35987F-CE00-4029-B383-E9B10924CD3C}" srcOrd="1" destOrd="0" presId="urn:microsoft.com/office/officeart/2005/8/layout/hierarchy3"/>
    <dgm:cxn modelId="{C1E74320-4DFE-48B3-9657-84686AD5B172}" type="presParOf" srcId="{34E627B8-4301-4E24-8B6F-BC32E7DA1D81}" destId="{27F27009-D887-40EB-89A8-059E8D373EF8}" srcOrd="1" destOrd="0" presId="urn:microsoft.com/office/officeart/2005/8/layout/hierarchy3"/>
    <dgm:cxn modelId="{A4E534DC-0331-4DD4-8C41-E602D5677E6B}" type="presParOf" srcId="{27F27009-D887-40EB-89A8-059E8D373EF8}" destId="{68A3DDD3-7129-4488-9FED-49C36336BC82}" srcOrd="0" destOrd="0" presId="urn:microsoft.com/office/officeart/2005/8/layout/hierarchy3"/>
    <dgm:cxn modelId="{AF84F18C-76EF-43E5-8F0B-AFB6EB150135}" type="presParOf" srcId="{68A3DDD3-7129-4488-9FED-49C36336BC82}" destId="{939C0526-6D1B-4C99-A71A-39B5C53DD2D6}" srcOrd="0" destOrd="0" presId="urn:microsoft.com/office/officeart/2005/8/layout/hierarchy3"/>
    <dgm:cxn modelId="{E277951C-BCB4-4F3C-B07A-C8CC6BC0EFFC}" type="presParOf" srcId="{68A3DDD3-7129-4488-9FED-49C36336BC82}" destId="{EF63EFB0-E3DF-41B0-B959-BB166A07FACC}" srcOrd="1" destOrd="0" presId="urn:microsoft.com/office/officeart/2005/8/layout/hierarchy3"/>
    <dgm:cxn modelId="{45BDD607-52CC-486C-8760-911096CD0056}" type="presParOf" srcId="{27F27009-D887-40EB-89A8-059E8D373EF8}" destId="{8B962FA9-B780-445A-B921-43BA917592D7}" srcOrd="1" destOrd="0" presId="urn:microsoft.com/office/officeart/2005/8/layout/hierarchy3"/>
    <dgm:cxn modelId="{2778F284-2599-4904-93E7-34351EB605AF}" type="presParOf" srcId="{34E627B8-4301-4E24-8B6F-BC32E7DA1D81}" destId="{500A14C8-5F20-4B59-A20C-19893CE9B0AE}" srcOrd="2" destOrd="0" presId="urn:microsoft.com/office/officeart/2005/8/layout/hierarchy3"/>
    <dgm:cxn modelId="{D36DA698-7D4D-4603-904B-D3373A22CE4F}" type="presParOf" srcId="{500A14C8-5F20-4B59-A20C-19893CE9B0AE}" destId="{179F2EFF-C715-4008-919C-5BFFF68B892D}" srcOrd="0" destOrd="0" presId="urn:microsoft.com/office/officeart/2005/8/layout/hierarchy3"/>
    <dgm:cxn modelId="{750A033E-02C8-40D0-9440-40AA13AF9958}" type="presParOf" srcId="{179F2EFF-C715-4008-919C-5BFFF68B892D}" destId="{54D3B20F-E2A5-4C38-BEBC-8629972ADA66}" srcOrd="0" destOrd="0" presId="urn:microsoft.com/office/officeart/2005/8/layout/hierarchy3"/>
    <dgm:cxn modelId="{9685825F-3560-451C-AF04-483D85ECA769}" type="presParOf" srcId="{179F2EFF-C715-4008-919C-5BFFF68B892D}" destId="{D01D11E6-3E8F-4808-836F-9B0DEDF7D55B}" srcOrd="1" destOrd="0" presId="urn:microsoft.com/office/officeart/2005/8/layout/hierarchy3"/>
    <dgm:cxn modelId="{9C3C33E9-98ED-4265-9DCF-BC99003D5D15}" type="presParOf" srcId="{500A14C8-5F20-4B59-A20C-19893CE9B0AE}" destId="{389411FA-9BD3-49A0-9704-2AC3291CC1F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FF09F8-D78B-4B7F-90C0-3CC5CAFB8ED1}" type="doc">
      <dgm:prSet loTypeId="urn:microsoft.com/office/officeart/2016/7/layout/BasicLinearProcessNumbered" loCatId="process" qsTypeId="urn:microsoft.com/office/officeart/2005/8/quickstyle/simple1#142" qsCatId="simple" csTypeId="urn:microsoft.com/office/officeart/2005/8/colors/colorful1#19" csCatId="colorful" phldr="1"/>
      <dgm:spPr/>
      <dgm:t>
        <a:bodyPr/>
        <a:lstStyle/>
        <a:p>
          <a:endParaRPr lang="en-US"/>
        </a:p>
      </dgm:t>
    </dgm:pt>
    <dgm:pt modelId="{5CB7B547-0D9E-4900-9726-F7C08EDD0DB1}">
      <dgm:prSet/>
      <dgm:spPr/>
      <dgm:t>
        <a:bodyPr/>
        <a:lstStyle/>
        <a:p>
          <a:r>
            <a:rPr lang="es-PA"/>
            <a:t>Cumplir con los requisitos de documentación del readme y del repositorio.</a:t>
          </a:r>
          <a:endParaRPr lang="en-US"/>
        </a:p>
      </dgm:t>
    </dgm:pt>
    <dgm:pt modelId="{04976F6C-3DCF-4E96-899D-44A7C0FA059B}" type="parTrans" cxnId="{D94BBC41-7E2E-4AA3-BF13-3FAA752C2524}">
      <dgm:prSet/>
      <dgm:spPr/>
      <dgm:t>
        <a:bodyPr/>
        <a:lstStyle/>
        <a:p>
          <a:endParaRPr lang="en-US"/>
        </a:p>
      </dgm:t>
    </dgm:pt>
    <dgm:pt modelId="{B90BD8C3-2DFC-4212-B35B-C49BC611DE3B}" type="sibTrans" cxnId="{D94BBC41-7E2E-4AA3-BF13-3FAA752C2524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9F389E39-83C2-4F8A-A993-345499DEEDB0}">
      <dgm:prSet/>
      <dgm:spPr/>
      <dgm:t>
        <a:bodyPr/>
        <a:lstStyle/>
        <a:p>
          <a:r>
            <a:rPr lang="es-PA"/>
            <a:t>Ver los ejemplos  en Moodle de Repositorios.</a:t>
          </a:r>
          <a:endParaRPr lang="en-US"/>
        </a:p>
      </dgm:t>
    </dgm:pt>
    <dgm:pt modelId="{CAD1EE88-3A76-457E-8E04-98B3C299F5C4}" type="parTrans" cxnId="{114273B5-74F2-44B9-B1A8-D0E9712D9E2D}">
      <dgm:prSet/>
      <dgm:spPr/>
      <dgm:t>
        <a:bodyPr/>
        <a:lstStyle/>
        <a:p>
          <a:endParaRPr lang="en-US"/>
        </a:p>
      </dgm:t>
    </dgm:pt>
    <dgm:pt modelId="{5CA0F63F-0552-4276-A6FF-7B2F1DEE755F}" type="sibTrans" cxnId="{114273B5-74F2-44B9-B1A8-D0E9712D9E2D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52E34158-B0F5-4EED-8994-6DCB135DD3B0}">
      <dgm:prSet/>
      <dgm:spPr/>
      <dgm:t>
        <a:bodyPr/>
        <a:lstStyle/>
        <a:p>
          <a:r>
            <a:rPr lang="es-PA"/>
            <a:t>Ven en Moodle la documentación mínima del repositorio.</a:t>
          </a:r>
          <a:endParaRPr lang="en-US"/>
        </a:p>
      </dgm:t>
    </dgm:pt>
    <dgm:pt modelId="{F1F8AC6A-C50D-4843-A673-A6E17F294A44}" type="parTrans" cxnId="{2D14CBAC-A1F2-4DF0-A844-FD2E50A5C524}">
      <dgm:prSet/>
      <dgm:spPr/>
      <dgm:t>
        <a:bodyPr/>
        <a:lstStyle/>
        <a:p>
          <a:endParaRPr lang="en-US"/>
        </a:p>
      </dgm:t>
    </dgm:pt>
    <dgm:pt modelId="{2B838D22-97E0-4047-8ACB-29E983EA1C1F}" type="sibTrans" cxnId="{2D14CBAC-A1F2-4DF0-A844-FD2E50A5C524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5E34D98D-BEEB-4450-8113-93C2DBAF0E2E}" type="pres">
      <dgm:prSet presAssocID="{C4FF09F8-D78B-4B7F-90C0-3CC5CAFB8ED1}" presName="Name0" presStyleCnt="0">
        <dgm:presLayoutVars>
          <dgm:animLvl val="lvl"/>
          <dgm:resizeHandles val="exact"/>
        </dgm:presLayoutVars>
      </dgm:prSet>
      <dgm:spPr/>
    </dgm:pt>
    <dgm:pt modelId="{ECEAB28D-5810-4D63-BA28-071DA1E4CE22}" type="pres">
      <dgm:prSet presAssocID="{5CB7B547-0D9E-4900-9726-F7C08EDD0DB1}" presName="compositeNode" presStyleCnt="0">
        <dgm:presLayoutVars>
          <dgm:bulletEnabled val="1"/>
        </dgm:presLayoutVars>
      </dgm:prSet>
      <dgm:spPr/>
    </dgm:pt>
    <dgm:pt modelId="{4A76A16E-19D9-4824-A847-8FDE71E5BECF}" type="pres">
      <dgm:prSet presAssocID="{5CB7B547-0D9E-4900-9726-F7C08EDD0DB1}" presName="bgRect" presStyleLbl="bgAccFollowNode1" presStyleIdx="0" presStyleCnt="3"/>
      <dgm:spPr/>
    </dgm:pt>
    <dgm:pt modelId="{B7D7CB97-72EE-4843-9300-166B7EE56F33}" type="pres">
      <dgm:prSet presAssocID="{B90BD8C3-2DFC-4212-B35B-C49BC611DE3B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5A2A786A-C8C5-4B90-A78E-360466BDDF68}" type="pres">
      <dgm:prSet presAssocID="{5CB7B547-0D9E-4900-9726-F7C08EDD0DB1}" presName="bottomLine" presStyleLbl="alignNode1" presStyleIdx="1" presStyleCnt="6">
        <dgm:presLayoutVars/>
      </dgm:prSet>
      <dgm:spPr/>
    </dgm:pt>
    <dgm:pt modelId="{CE3DA7F9-D939-4663-A959-44D64A00E2CF}" type="pres">
      <dgm:prSet presAssocID="{5CB7B547-0D9E-4900-9726-F7C08EDD0DB1}" presName="nodeText" presStyleLbl="bgAccFollowNode1" presStyleIdx="0" presStyleCnt="3">
        <dgm:presLayoutVars>
          <dgm:bulletEnabled val="1"/>
        </dgm:presLayoutVars>
      </dgm:prSet>
      <dgm:spPr/>
    </dgm:pt>
    <dgm:pt modelId="{27A35F9D-9239-4934-A280-405C51C09F9E}" type="pres">
      <dgm:prSet presAssocID="{B90BD8C3-2DFC-4212-B35B-C49BC611DE3B}" presName="sibTrans" presStyleCnt="0"/>
      <dgm:spPr/>
    </dgm:pt>
    <dgm:pt modelId="{D90D1BC4-A703-421A-AE98-A408A992AA13}" type="pres">
      <dgm:prSet presAssocID="{9F389E39-83C2-4F8A-A993-345499DEEDB0}" presName="compositeNode" presStyleCnt="0">
        <dgm:presLayoutVars>
          <dgm:bulletEnabled val="1"/>
        </dgm:presLayoutVars>
      </dgm:prSet>
      <dgm:spPr/>
    </dgm:pt>
    <dgm:pt modelId="{8D7B0BED-707B-426F-84D1-E00773487B8F}" type="pres">
      <dgm:prSet presAssocID="{9F389E39-83C2-4F8A-A993-345499DEEDB0}" presName="bgRect" presStyleLbl="bgAccFollowNode1" presStyleIdx="1" presStyleCnt="3"/>
      <dgm:spPr/>
    </dgm:pt>
    <dgm:pt modelId="{E2C4B389-729C-4053-BFEE-F45552B15C7E}" type="pres">
      <dgm:prSet presAssocID="{5CA0F63F-0552-4276-A6FF-7B2F1DEE755F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02DDB627-343B-4BF1-85C6-1D7051D20738}" type="pres">
      <dgm:prSet presAssocID="{9F389E39-83C2-4F8A-A993-345499DEEDB0}" presName="bottomLine" presStyleLbl="alignNode1" presStyleIdx="3" presStyleCnt="6">
        <dgm:presLayoutVars/>
      </dgm:prSet>
      <dgm:spPr/>
    </dgm:pt>
    <dgm:pt modelId="{5C660031-6C53-4FF5-B477-C7EF8FA57007}" type="pres">
      <dgm:prSet presAssocID="{9F389E39-83C2-4F8A-A993-345499DEEDB0}" presName="nodeText" presStyleLbl="bgAccFollowNode1" presStyleIdx="1" presStyleCnt="3">
        <dgm:presLayoutVars>
          <dgm:bulletEnabled val="1"/>
        </dgm:presLayoutVars>
      </dgm:prSet>
      <dgm:spPr/>
    </dgm:pt>
    <dgm:pt modelId="{BBB30F4C-A6C5-4944-AFCA-7E8ADEDFAAFF}" type="pres">
      <dgm:prSet presAssocID="{5CA0F63F-0552-4276-A6FF-7B2F1DEE755F}" presName="sibTrans" presStyleCnt="0"/>
      <dgm:spPr/>
    </dgm:pt>
    <dgm:pt modelId="{1214641F-15F8-42CF-87B3-8937722FAACB}" type="pres">
      <dgm:prSet presAssocID="{52E34158-B0F5-4EED-8994-6DCB135DD3B0}" presName="compositeNode" presStyleCnt="0">
        <dgm:presLayoutVars>
          <dgm:bulletEnabled val="1"/>
        </dgm:presLayoutVars>
      </dgm:prSet>
      <dgm:spPr/>
    </dgm:pt>
    <dgm:pt modelId="{57184831-994D-4083-8B75-597DE726DEE3}" type="pres">
      <dgm:prSet presAssocID="{52E34158-B0F5-4EED-8994-6DCB135DD3B0}" presName="bgRect" presStyleLbl="bgAccFollowNode1" presStyleIdx="2" presStyleCnt="3"/>
      <dgm:spPr/>
    </dgm:pt>
    <dgm:pt modelId="{2A3D9EDA-7F8A-4AA8-B21F-5EF48A1733D6}" type="pres">
      <dgm:prSet presAssocID="{2B838D22-97E0-4047-8ACB-29E983EA1C1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C9506DB-DD4A-4738-A95C-104EEB2517D8}" type="pres">
      <dgm:prSet presAssocID="{52E34158-B0F5-4EED-8994-6DCB135DD3B0}" presName="bottomLine" presStyleLbl="alignNode1" presStyleIdx="5" presStyleCnt="6">
        <dgm:presLayoutVars/>
      </dgm:prSet>
      <dgm:spPr/>
    </dgm:pt>
    <dgm:pt modelId="{00B2E883-EBF3-48BA-8F27-780A0D80CBAC}" type="pres">
      <dgm:prSet presAssocID="{52E34158-B0F5-4EED-8994-6DCB135DD3B0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3504FD09-0CFD-4E05-826C-28E47E0FDF10}" type="presOf" srcId="{9F389E39-83C2-4F8A-A993-345499DEEDB0}" destId="{8D7B0BED-707B-426F-84D1-E00773487B8F}" srcOrd="0" destOrd="0" presId="urn:microsoft.com/office/officeart/2016/7/layout/BasicLinearProcessNumbered"/>
    <dgm:cxn modelId="{5A855B36-1C3F-419C-825F-4CE101D7BE11}" type="presOf" srcId="{9F389E39-83C2-4F8A-A993-345499DEEDB0}" destId="{5C660031-6C53-4FF5-B477-C7EF8FA57007}" srcOrd="1" destOrd="0" presId="urn:microsoft.com/office/officeart/2016/7/layout/BasicLinearProcessNumbered"/>
    <dgm:cxn modelId="{B73D913E-72C8-42FF-A4D6-8A8812CDC91E}" type="presOf" srcId="{C4FF09F8-D78B-4B7F-90C0-3CC5CAFB8ED1}" destId="{5E34D98D-BEEB-4450-8113-93C2DBAF0E2E}" srcOrd="0" destOrd="0" presId="urn:microsoft.com/office/officeart/2016/7/layout/BasicLinearProcessNumbered"/>
    <dgm:cxn modelId="{D94BBC41-7E2E-4AA3-BF13-3FAA752C2524}" srcId="{C4FF09F8-D78B-4B7F-90C0-3CC5CAFB8ED1}" destId="{5CB7B547-0D9E-4900-9726-F7C08EDD0DB1}" srcOrd="0" destOrd="0" parTransId="{04976F6C-3DCF-4E96-899D-44A7C0FA059B}" sibTransId="{B90BD8C3-2DFC-4212-B35B-C49BC611DE3B}"/>
    <dgm:cxn modelId="{1BCFF485-3FC4-48D8-8A70-C07A062C912A}" type="presOf" srcId="{5CB7B547-0D9E-4900-9726-F7C08EDD0DB1}" destId="{4A76A16E-19D9-4824-A847-8FDE71E5BECF}" srcOrd="0" destOrd="0" presId="urn:microsoft.com/office/officeart/2016/7/layout/BasicLinearProcessNumbered"/>
    <dgm:cxn modelId="{3A0828A4-F4F5-430B-A12B-69233322B7D9}" type="presOf" srcId="{52E34158-B0F5-4EED-8994-6DCB135DD3B0}" destId="{00B2E883-EBF3-48BA-8F27-780A0D80CBAC}" srcOrd="1" destOrd="0" presId="urn:microsoft.com/office/officeart/2016/7/layout/BasicLinearProcessNumbered"/>
    <dgm:cxn modelId="{2D14CBAC-A1F2-4DF0-A844-FD2E50A5C524}" srcId="{C4FF09F8-D78B-4B7F-90C0-3CC5CAFB8ED1}" destId="{52E34158-B0F5-4EED-8994-6DCB135DD3B0}" srcOrd="2" destOrd="0" parTransId="{F1F8AC6A-C50D-4843-A673-A6E17F294A44}" sibTransId="{2B838D22-97E0-4047-8ACB-29E983EA1C1F}"/>
    <dgm:cxn modelId="{92DEE9B0-0BA6-4BCF-BD6B-220A1A1F22E7}" type="presOf" srcId="{2B838D22-97E0-4047-8ACB-29E983EA1C1F}" destId="{2A3D9EDA-7F8A-4AA8-B21F-5EF48A1733D6}" srcOrd="0" destOrd="0" presId="urn:microsoft.com/office/officeart/2016/7/layout/BasicLinearProcessNumbered"/>
    <dgm:cxn modelId="{114273B5-74F2-44B9-B1A8-D0E9712D9E2D}" srcId="{C4FF09F8-D78B-4B7F-90C0-3CC5CAFB8ED1}" destId="{9F389E39-83C2-4F8A-A993-345499DEEDB0}" srcOrd="1" destOrd="0" parTransId="{CAD1EE88-3A76-457E-8E04-98B3C299F5C4}" sibTransId="{5CA0F63F-0552-4276-A6FF-7B2F1DEE755F}"/>
    <dgm:cxn modelId="{C3813BBE-40B5-4270-8D9C-5D18AC9332FD}" type="presOf" srcId="{5CB7B547-0D9E-4900-9726-F7C08EDD0DB1}" destId="{CE3DA7F9-D939-4663-A959-44D64A00E2CF}" srcOrd="1" destOrd="0" presId="urn:microsoft.com/office/officeart/2016/7/layout/BasicLinearProcessNumbered"/>
    <dgm:cxn modelId="{D2E8E2C0-6D7A-420F-A938-D9208800C83C}" type="presOf" srcId="{B90BD8C3-2DFC-4212-B35B-C49BC611DE3B}" destId="{B7D7CB97-72EE-4843-9300-166B7EE56F33}" srcOrd="0" destOrd="0" presId="urn:microsoft.com/office/officeart/2016/7/layout/BasicLinearProcessNumbered"/>
    <dgm:cxn modelId="{283BAADC-D05B-44EA-A890-D8A8C05BD5B6}" type="presOf" srcId="{52E34158-B0F5-4EED-8994-6DCB135DD3B0}" destId="{57184831-994D-4083-8B75-597DE726DEE3}" srcOrd="0" destOrd="0" presId="urn:microsoft.com/office/officeart/2016/7/layout/BasicLinearProcessNumbered"/>
    <dgm:cxn modelId="{FCDC4DF8-83B8-4E1F-86B0-D94B74094FA1}" type="presOf" srcId="{5CA0F63F-0552-4276-A6FF-7B2F1DEE755F}" destId="{E2C4B389-729C-4053-BFEE-F45552B15C7E}" srcOrd="0" destOrd="0" presId="urn:microsoft.com/office/officeart/2016/7/layout/BasicLinearProcessNumbered"/>
    <dgm:cxn modelId="{B4E40FA5-8E4B-4EFE-A52E-BF7167774CFF}" type="presParOf" srcId="{5E34D98D-BEEB-4450-8113-93C2DBAF0E2E}" destId="{ECEAB28D-5810-4D63-BA28-071DA1E4CE22}" srcOrd="0" destOrd="0" presId="urn:microsoft.com/office/officeart/2016/7/layout/BasicLinearProcessNumbered"/>
    <dgm:cxn modelId="{51BBB69D-1A1C-4F23-8AC3-A2A99FFB7298}" type="presParOf" srcId="{ECEAB28D-5810-4D63-BA28-071DA1E4CE22}" destId="{4A76A16E-19D9-4824-A847-8FDE71E5BECF}" srcOrd="0" destOrd="0" presId="urn:microsoft.com/office/officeart/2016/7/layout/BasicLinearProcessNumbered"/>
    <dgm:cxn modelId="{E090CEC8-0BEA-4E11-A093-4FB8BA6429CF}" type="presParOf" srcId="{ECEAB28D-5810-4D63-BA28-071DA1E4CE22}" destId="{B7D7CB97-72EE-4843-9300-166B7EE56F33}" srcOrd="1" destOrd="0" presId="urn:microsoft.com/office/officeart/2016/7/layout/BasicLinearProcessNumbered"/>
    <dgm:cxn modelId="{3B54047F-54A3-439D-994C-B9D077CE5887}" type="presParOf" srcId="{ECEAB28D-5810-4D63-BA28-071DA1E4CE22}" destId="{5A2A786A-C8C5-4B90-A78E-360466BDDF68}" srcOrd="2" destOrd="0" presId="urn:microsoft.com/office/officeart/2016/7/layout/BasicLinearProcessNumbered"/>
    <dgm:cxn modelId="{B034FD7F-BF3E-475D-A492-EFF0926B0BCE}" type="presParOf" srcId="{ECEAB28D-5810-4D63-BA28-071DA1E4CE22}" destId="{CE3DA7F9-D939-4663-A959-44D64A00E2CF}" srcOrd="3" destOrd="0" presId="urn:microsoft.com/office/officeart/2016/7/layout/BasicLinearProcessNumbered"/>
    <dgm:cxn modelId="{0BE8879A-C0EB-4986-8031-884116A0A52F}" type="presParOf" srcId="{5E34D98D-BEEB-4450-8113-93C2DBAF0E2E}" destId="{27A35F9D-9239-4934-A280-405C51C09F9E}" srcOrd="1" destOrd="0" presId="urn:microsoft.com/office/officeart/2016/7/layout/BasicLinearProcessNumbered"/>
    <dgm:cxn modelId="{7A3A063C-5C48-4E2E-9303-3355AF4DCAC9}" type="presParOf" srcId="{5E34D98D-BEEB-4450-8113-93C2DBAF0E2E}" destId="{D90D1BC4-A703-421A-AE98-A408A992AA13}" srcOrd="2" destOrd="0" presId="urn:microsoft.com/office/officeart/2016/7/layout/BasicLinearProcessNumbered"/>
    <dgm:cxn modelId="{4278C111-A55B-46DA-8A72-9119AB7FA55E}" type="presParOf" srcId="{D90D1BC4-A703-421A-AE98-A408A992AA13}" destId="{8D7B0BED-707B-426F-84D1-E00773487B8F}" srcOrd="0" destOrd="0" presId="urn:microsoft.com/office/officeart/2016/7/layout/BasicLinearProcessNumbered"/>
    <dgm:cxn modelId="{DD76344B-7E2D-44CF-B6B3-D3C45FB25AD7}" type="presParOf" srcId="{D90D1BC4-A703-421A-AE98-A408A992AA13}" destId="{E2C4B389-729C-4053-BFEE-F45552B15C7E}" srcOrd="1" destOrd="0" presId="urn:microsoft.com/office/officeart/2016/7/layout/BasicLinearProcessNumbered"/>
    <dgm:cxn modelId="{FB4A239D-D915-4D7A-9D9D-5568555AB324}" type="presParOf" srcId="{D90D1BC4-A703-421A-AE98-A408A992AA13}" destId="{02DDB627-343B-4BF1-85C6-1D7051D20738}" srcOrd="2" destOrd="0" presId="urn:microsoft.com/office/officeart/2016/7/layout/BasicLinearProcessNumbered"/>
    <dgm:cxn modelId="{F1B846BF-772E-4F6E-825F-4F0EBDB6E2DA}" type="presParOf" srcId="{D90D1BC4-A703-421A-AE98-A408A992AA13}" destId="{5C660031-6C53-4FF5-B477-C7EF8FA57007}" srcOrd="3" destOrd="0" presId="urn:microsoft.com/office/officeart/2016/7/layout/BasicLinearProcessNumbered"/>
    <dgm:cxn modelId="{BD514424-EABA-478B-9C5F-8F3460C0A1BB}" type="presParOf" srcId="{5E34D98D-BEEB-4450-8113-93C2DBAF0E2E}" destId="{BBB30F4C-A6C5-4944-AFCA-7E8ADEDFAAFF}" srcOrd="3" destOrd="0" presId="urn:microsoft.com/office/officeart/2016/7/layout/BasicLinearProcessNumbered"/>
    <dgm:cxn modelId="{FC7D94BD-92C5-460A-88D8-5B290AD7E38C}" type="presParOf" srcId="{5E34D98D-BEEB-4450-8113-93C2DBAF0E2E}" destId="{1214641F-15F8-42CF-87B3-8937722FAACB}" srcOrd="4" destOrd="0" presId="urn:microsoft.com/office/officeart/2016/7/layout/BasicLinearProcessNumbered"/>
    <dgm:cxn modelId="{B1BA00FB-FDB2-4F77-A217-CB9D52DD7117}" type="presParOf" srcId="{1214641F-15F8-42CF-87B3-8937722FAACB}" destId="{57184831-994D-4083-8B75-597DE726DEE3}" srcOrd="0" destOrd="0" presId="urn:microsoft.com/office/officeart/2016/7/layout/BasicLinearProcessNumbered"/>
    <dgm:cxn modelId="{915022BD-FD2E-40E0-89FE-2BF056D16FC8}" type="presParOf" srcId="{1214641F-15F8-42CF-87B3-8937722FAACB}" destId="{2A3D9EDA-7F8A-4AA8-B21F-5EF48A1733D6}" srcOrd="1" destOrd="0" presId="urn:microsoft.com/office/officeart/2016/7/layout/BasicLinearProcessNumbered"/>
    <dgm:cxn modelId="{6F24548B-5417-4FD7-9298-4CE6756EC17A}" type="presParOf" srcId="{1214641F-15F8-42CF-87B3-8937722FAACB}" destId="{BC9506DB-DD4A-4738-A95C-104EEB2517D8}" srcOrd="2" destOrd="0" presId="urn:microsoft.com/office/officeart/2016/7/layout/BasicLinearProcessNumbered"/>
    <dgm:cxn modelId="{9B9039E3-5499-4800-8FA4-C88864FE96D7}" type="presParOf" srcId="{1214641F-15F8-42CF-87B3-8937722FAACB}" destId="{00B2E883-EBF3-48BA-8F27-780A0D80CBA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92EA6-5BBF-44B2-B236-B586177D873C}">
      <dsp:nvSpPr>
        <dsp:cNvPr id="0" name=""/>
        <dsp:cNvSpPr/>
      </dsp:nvSpPr>
      <dsp:spPr>
        <a:xfrm>
          <a:off x="1283" y="1424738"/>
          <a:ext cx="3003723" cy="15018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4200" kern="1200"/>
            <a:t>Navegación</a:t>
          </a:r>
          <a:endParaRPr lang="en-US" sz="4200" kern="1200"/>
        </a:p>
      </dsp:txBody>
      <dsp:txXfrm>
        <a:off x="45271" y="1468726"/>
        <a:ext cx="2915747" cy="1413885"/>
      </dsp:txXfrm>
    </dsp:sp>
    <dsp:sp modelId="{939C0526-6D1B-4C99-A71A-39B5C53DD2D6}">
      <dsp:nvSpPr>
        <dsp:cNvPr id="0" name=""/>
        <dsp:cNvSpPr/>
      </dsp:nvSpPr>
      <dsp:spPr>
        <a:xfrm>
          <a:off x="3755938" y="1424738"/>
          <a:ext cx="3003723" cy="150186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4200" kern="1200"/>
            <a:t>Footer</a:t>
          </a:r>
          <a:endParaRPr lang="en-US" sz="4200" kern="1200"/>
        </a:p>
      </dsp:txBody>
      <dsp:txXfrm>
        <a:off x="3799926" y="1468726"/>
        <a:ext cx="2915747" cy="1413885"/>
      </dsp:txXfrm>
    </dsp:sp>
    <dsp:sp modelId="{54D3B20F-E2A5-4C38-BEBC-8629972ADA66}">
      <dsp:nvSpPr>
        <dsp:cNvPr id="0" name=""/>
        <dsp:cNvSpPr/>
      </dsp:nvSpPr>
      <dsp:spPr>
        <a:xfrm>
          <a:off x="7510592" y="1424738"/>
          <a:ext cx="3003723" cy="150186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4200" kern="1200"/>
            <a:t>El formulario</a:t>
          </a:r>
          <a:endParaRPr lang="en-US" sz="4200" kern="1200"/>
        </a:p>
      </dsp:txBody>
      <dsp:txXfrm>
        <a:off x="7554580" y="1468726"/>
        <a:ext cx="2915747" cy="14138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6A16E-19D9-4824-A847-8FDE71E5BECF}">
      <dsp:nvSpPr>
        <dsp:cNvPr id="0" name=""/>
        <dsp:cNvSpPr/>
      </dsp:nvSpPr>
      <dsp:spPr>
        <a:xfrm>
          <a:off x="0" y="0"/>
          <a:ext cx="3414946" cy="41928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2600" kern="1200"/>
            <a:t>Cumplir con los requisitos de documentación del readme y del repositorio.</a:t>
          </a:r>
          <a:endParaRPr lang="en-US" sz="2600" kern="1200"/>
        </a:p>
      </dsp:txBody>
      <dsp:txXfrm>
        <a:off x="0" y="1593265"/>
        <a:ext cx="3414946" cy="2515683"/>
      </dsp:txXfrm>
    </dsp:sp>
    <dsp:sp modelId="{B7D7CB97-72EE-4843-9300-166B7EE56F33}">
      <dsp:nvSpPr>
        <dsp:cNvPr id="0" name=""/>
        <dsp:cNvSpPr/>
      </dsp:nvSpPr>
      <dsp:spPr>
        <a:xfrm>
          <a:off x="1078552" y="419280"/>
          <a:ext cx="1257841" cy="12578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62759" y="603487"/>
        <a:ext cx="889427" cy="889427"/>
      </dsp:txXfrm>
    </dsp:sp>
    <dsp:sp modelId="{5A2A786A-C8C5-4B90-A78E-360466BDDF68}">
      <dsp:nvSpPr>
        <dsp:cNvPr id="0" name=""/>
        <dsp:cNvSpPr/>
      </dsp:nvSpPr>
      <dsp:spPr>
        <a:xfrm>
          <a:off x="0" y="4192733"/>
          <a:ext cx="3414946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B0BED-707B-426F-84D1-E00773487B8F}">
      <dsp:nvSpPr>
        <dsp:cNvPr id="0" name=""/>
        <dsp:cNvSpPr/>
      </dsp:nvSpPr>
      <dsp:spPr>
        <a:xfrm>
          <a:off x="3756441" y="0"/>
          <a:ext cx="3414946" cy="419280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2600" kern="1200"/>
            <a:t>Ver los ejemplos  en Moodle de Repositorios.</a:t>
          </a:r>
          <a:endParaRPr lang="en-US" sz="2600" kern="1200"/>
        </a:p>
      </dsp:txBody>
      <dsp:txXfrm>
        <a:off x="3756441" y="1593265"/>
        <a:ext cx="3414946" cy="2515683"/>
      </dsp:txXfrm>
    </dsp:sp>
    <dsp:sp modelId="{E2C4B389-729C-4053-BFEE-F45552B15C7E}">
      <dsp:nvSpPr>
        <dsp:cNvPr id="0" name=""/>
        <dsp:cNvSpPr/>
      </dsp:nvSpPr>
      <dsp:spPr>
        <a:xfrm>
          <a:off x="4834993" y="419280"/>
          <a:ext cx="1257841" cy="12578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19200" y="603487"/>
        <a:ext cx="889427" cy="889427"/>
      </dsp:txXfrm>
    </dsp:sp>
    <dsp:sp modelId="{02DDB627-343B-4BF1-85C6-1D7051D20738}">
      <dsp:nvSpPr>
        <dsp:cNvPr id="0" name=""/>
        <dsp:cNvSpPr/>
      </dsp:nvSpPr>
      <dsp:spPr>
        <a:xfrm>
          <a:off x="3756441" y="4192733"/>
          <a:ext cx="3414946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84831-994D-4083-8B75-597DE726DEE3}">
      <dsp:nvSpPr>
        <dsp:cNvPr id="0" name=""/>
        <dsp:cNvSpPr/>
      </dsp:nvSpPr>
      <dsp:spPr>
        <a:xfrm>
          <a:off x="7512882" y="0"/>
          <a:ext cx="3414946" cy="419280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2600" kern="1200"/>
            <a:t>Ven en Moodle la documentación mínima del repositorio.</a:t>
          </a:r>
          <a:endParaRPr lang="en-US" sz="2600" kern="1200"/>
        </a:p>
      </dsp:txBody>
      <dsp:txXfrm>
        <a:off x="7512882" y="1593265"/>
        <a:ext cx="3414946" cy="2515683"/>
      </dsp:txXfrm>
    </dsp:sp>
    <dsp:sp modelId="{2A3D9EDA-7F8A-4AA8-B21F-5EF48A1733D6}">
      <dsp:nvSpPr>
        <dsp:cNvPr id="0" name=""/>
        <dsp:cNvSpPr/>
      </dsp:nvSpPr>
      <dsp:spPr>
        <a:xfrm>
          <a:off x="8591434" y="419280"/>
          <a:ext cx="1257841" cy="125784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775641" y="603487"/>
        <a:ext cx="889427" cy="889427"/>
      </dsp:txXfrm>
    </dsp:sp>
    <dsp:sp modelId="{BC9506DB-DD4A-4738-A95C-104EEB2517D8}">
      <dsp:nvSpPr>
        <dsp:cNvPr id="0" name=""/>
        <dsp:cNvSpPr/>
      </dsp:nvSpPr>
      <dsp:spPr>
        <a:xfrm>
          <a:off x="7512882" y="4192733"/>
          <a:ext cx="3414946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4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5CD3B7-864D-9A43-13B0-754EDD723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11277B-7066-2591-6B0E-348505030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11BA81-719E-E3F7-1275-B25CDAE76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35E9-AB57-4A0F-8402-6430ECF4AB85}" type="datetimeFigureOut">
              <a:rPr lang="es-PA" smtClean="0"/>
              <a:t>09/19/2026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0173D0-4ABB-2E65-98EA-AB7AAAD7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85E2A-F5DF-3169-D0AF-7995D74C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0909-C1C4-4C42-ACA7-70DFF614D545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51466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3CCF2-6DF7-C4BF-5C30-529BDBD1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0922B8-AB23-0ED5-BD08-75792F93C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1B17C-6812-3B5B-B908-345F1F05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35E9-AB57-4A0F-8402-6430ECF4AB85}" type="datetimeFigureOut">
              <a:rPr lang="es-PA" smtClean="0"/>
              <a:t>09/19/2026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E75230-F846-7364-F69A-4BAB9B02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D6654E-40F0-BDA2-AE63-20D1D3266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0909-C1C4-4C42-ACA7-70DFF614D545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096908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F65CC-3512-6BAB-2CB8-FB12DE13D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413065-DBD1-7151-7A2D-634858F2E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F13AC3-BFA8-CA0C-E8D0-F8CAC209D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35E9-AB57-4A0F-8402-6430ECF4AB85}" type="datetimeFigureOut">
              <a:rPr lang="es-PA" smtClean="0"/>
              <a:t>09/19/2026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102D5B-919C-EE6A-A15E-BA71E819D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35CD8C-C594-6A48-FCC3-971A2092B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0909-C1C4-4C42-ACA7-70DFF614D545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448536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8549B-76E1-0DF3-82A5-A1A9B8D3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FD2C24-A8F7-4D27-F2C6-B04EFF0FB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2834B1-474A-D6F3-003F-D26372E37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B577DA-763B-6315-245C-769D249FF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35E9-AB57-4A0F-8402-6430ECF4AB85}" type="datetimeFigureOut">
              <a:rPr lang="es-PA" smtClean="0"/>
              <a:t>09/19/2026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0FAA90-A4A8-9DB4-EC14-0FAD3DA1B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CEDCEA-D9C8-4817-E943-F4DEBEE4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0909-C1C4-4C42-ACA7-70DFF614D545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00262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2955B-5274-627A-2039-2F6B73625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A8EF62-B393-5ECB-4C0F-654E85A1F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E590F7-F9BA-8B8D-DFF5-D334A2B7A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3B1DAB7-0760-3406-35B4-FC5A5FF40B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67E9239-EEF7-38D9-2167-BD2DA374E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EDD5555-EE31-F567-5BD9-07525F6F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35E9-AB57-4A0F-8402-6430ECF4AB85}" type="datetimeFigureOut">
              <a:rPr lang="es-PA" smtClean="0"/>
              <a:t>09/19/2026</a:t>
            </a:fld>
            <a:endParaRPr lang="es-PA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7FE3CBF-9360-0F13-ED52-EDEBF4E9D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7CE457-E574-D4B8-F06A-4E663E7E4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0909-C1C4-4C42-ACA7-70DFF614D545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147087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B15FA-11DC-A0E9-9895-4D8D1DA4B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5A41CA1-0226-6087-3EBD-01F6899E4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35E9-AB57-4A0F-8402-6430ECF4AB85}" type="datetimeFigureOut">
              <a:rPr lang="es-PA" smtClean="0"/>
              <a:t>09/19/2026</a:t>
            </a:fld>
            <a:endParaRPr lang="es-PA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1A84CF-1972-81B3-529B-AAFA48F6E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35B13B4-7CDE-37B1-44CF-B3305490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0909-C1C4-4C42-ACA7-70DFF614D545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283164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E4A224A-C60D-6BE7-33FE-9586F3E38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35E9-AB57-4A0F-8402-6430ECF4AB85}" type="datetimeFigureOut">
              <a:rPr lang="es-PA" smtClean="0"/>
              <a:t>09/19/2026</a:t>
            </a:fld>
            <a:endParaRPr lang="es-PA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CD8541-133B-BF5B-EF66-DF1D7EE0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DFF726-C7EB-FF1D-3BE2-A56CE9E3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0909-C1C4-4C42-ACA7-70DFF614D545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70910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9CCB3-F858-C3F9-825B-A5ABDE2C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50EB12-8317-C975-C4B7-421B1738B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0A4B75-B249-91AC-9349-32CBAAD07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0C8D52-00D6-521B-4501-B2CAEA97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35E9-AB57-4A0F-8402-6430ECF4AB85}" type="datetimeFigureOut">
              <a:rPr lang="es-PA" smtClean="0"/>
              <a:t>09/19/2026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A8760E-C3DD-BA7A-4E35-3D71D309D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0317D5-AB59-08EF-565D-6FE5F0455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0909-C1C4-4C42-ACA7-70DFF614D545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887683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54D09-FF0A-C682-C85C-9AC2E1BB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850CA2-F106-AEB0-B7B5-A2B6C6DF5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0E8D2A-4ED3-D187-15A9-0C35112E8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5B2A09-40C8-7952-8BAD-55507F0B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35E9-AB57-4A0F-8402-6430ECF4AB85}" type="datetimeFigureOut">
              <a:rPr lang="es-PA" smtClean="0"/>
              <a:t>09/19/2026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31FAAB-6464-4489-6750-D5CF22D16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815D76-6395-9F58-2F04-2782A6CB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0909-C1C4-4C42-ACA7-70DFF614D545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74174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479F5-A1B9-BFE2-6EAF-A86A24013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B5D165-9892-B6C9-6B16-D90128F6F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F8B01-9029-4E78-DB7F-71FA80B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35E9-AB57-4A0F-8402-6430ECF4AB85}" type="datetimeFigureOut">
              <a:rPr lang="es-PA" smtClean="0"/>
              <a:t>09/19/2026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5276CF-8008-0C64-F114-92D4DC16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AC328C-EB56-1172-834C-A80DB113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0909-C1C4-4C42-ACA7-70DFF614D545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937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AC062D-F57C-B852-51A0-F974317A8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825983-BBA7-9731-920E-08E1344C4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C5998B-FAAA-F998-3712-A5BECF5EC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35E9-AB57-4A0F-8402-6430ECF4AB85}" type="datetimeFigureOut">
              <a:rPr lang="es-PA" smtClean="0"/>
              <a:t>09/19/2026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C3756F-4D2E-76C3-3EB4-153410D55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7047D0-8B2E-6949-A091-282663AE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0909-C1C4-4C42-ACA7-70DFF614D545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320788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BB5EB93-4549-91FE-98AD-E1D0C250F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997765-FF0F-D094-1953-04095BA05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ED1289-EBAE-5050-D4FD-4605F66955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235E9-AB57-4A0F-8402-6430ECF4AB85}" type="datetimeFigureOut">
              <a:rPr lang="es-PA" smtClean="0"/>
              <a:t>09/19/2026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DA32BB-7CB7-8058-73AD-319D7FBA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EFE49-A58F-8DDF-EDB1-0A80A13A4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E0909-C1C4-4C42-ACA7-70DFF614D545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597445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CEEB0-7600-C27E-8992-1162BECFE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291" y="848775"/>
            <a:ext cx="9144000" cy="834256"/>
          </a:xfrm>
        </p:spPr>
        <p:txBody>
          <a:bodyPr>
            <a:normAutofit fontScale="90000"/>
          </a:bodyPr>
          <a:lstStyle/>
          <a:p>
            <a:pPr algn="l"/>
            <a:r>
              <a:rPr lang="es-PA" dirty="0"/>
              <a:t>Laboratorio #3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C7BAC6-CB28-3607-215C-13958AA95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291" y="1901058"/>
            <a:ext cx="6587613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PA" dirty="0"/>
              <a:t>Elaborado por Ing. Irina Fong</a:t>
            </a:r>
          </a:p>
          <a:p>
            <a:pPr algn="l"/>
            <a:r>
              <a:rPr lang="es-PA" dirty="0"/>
              <a:t>Fecha de Asignación del Laboratorio:</a:t>
            </a:r>
          </a:p>
          <a:p>
            <a:pPr algn="l"/>
            <a:r>
              <a:rPr lang="es-PA" dirty="0"/>
              <a:t>18 de Septiembre de 2026</a:t>
            </a:r>
          </a:p>
          <a:p>
            <a:pPr algn="l"/>
            <a:r>
              <a:rPr lang="es-PA" b="1" dirty="0"/>
              <a:t>Fecha de Entrega: </a:t>
            </a:r>
            <a:r>
              <a:rPr lang="es-PA" dirty="0"/>
              <a:t>02 de octubre de 2026.</a:t>
            </a:r>
          </a:p>
          <a:p>
            <a:pPr algn="l"/>
            <a:r>
              <a:rPr lang="es-PA" dirty="0"/>
              <a:t>Semana del 14 de septiembre  al 02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2092962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8634D-8848-20E1-3E1A-26E1B7C09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Contenido del Laboratorio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06B9AA-93E2-0F67-396D-D26233946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PA" b="1" dirty="0"/>
              <a:t>Módulo II, Diseño Web con HTML5 y CSS3 4 semanas </a:t>
            </a:r>
          </a:p>
          <a:p>
            <a:r>
              <a:rPr lang="es-PA" dirty="0"/>
              <a:t>2.1. Estructura básica de un documento HTML </a:t>
            </a:r>
          </a:p>
          <a:p>
            <a:r>
              <a:rPr lang="es-PA" dirty="0"/>
              <a:t>2.2.4. Secciones &lt;</a:t>
            </a:r>
            <a:r>
              <a:rPr lang="es-PA" dirty="0" err="1"/>
              <a:t>header</a:t>
            </a:r>
            <a:r>
              <a:rPr lang="es-PA" dirty="0"/>
              <a:t>&gt;&lt;</a:t>
            </a:r>
            <a:r>
              <a:rPr lang="es-PA" dirty="0" err="1"/>
              <a:t>main</a:t>
            </a:r>
            <a:r>
              <a:rPr lang="es-PA" dirty="0"/>
              <a:t>&gt;&lt;</a:t>
            </a:r>
            <a:r>
              <a:rPr lang="es-PA" dirty="0" err="1"/>
              <a:t>section</a:t>
            </a:r>
            <a:r>
              <a:rPr lang="es-PA" dirty="0"/>
              <a:t>&gt;&lt;</a:t>
            </a:r>
            <a:r>
              <a:rPr lang="es-PA" dirty="0" err="1"/>
              <a:t>footer</a:t>
            </a:r>
            <a:r>
              <a:rPr lang="es-PA" dirty="0"/>
              <a:t>&gt; </a:t>
            </a:r>
          </a:p>
          <a:p>
            <a:r>
              <a:rPr lang="es-PA" dirty="0"/>
              <a:t>2.3. Elementos de diseño HTML </a:t>
            </a:r>
          </a:p>
          <a:p>
            <a:r>
              <a:rPr lang="es-PA" dirty="0"/>
              <a:t>Formularios HTML</a:t>
            </a:r>
          </a:p>
          <a:p>
            <a:r>
              <a:rPr lang="es-PA" b="1" dirty="0"/>
              <a:t>2.4.1. Elementos de formularios HTML </a:t>
            </a:r>
          </a:p>
          <a:p>
            <a:r>
              <a:rPr lang="es-PA" dirty="0"/>
              <a:t>Unidad II: Hoja de estilo CSS3  [</a:t>
            </a:r>
            <a:r>
              <a:rPr lang="es-PA" b="1" dirty="0"/>
              <a:t>Bootstrap v5.3.8]</a:t>
            </a:r>
            <a:endParaRPr lang="es-PA" dirty="0"/>
          </a:p>
          <a:p>
            <a:r>
              <a:rPr lang="es-PA" dirty="0"/>
              <a:t>Módulo III, Programación de Aplicaciones Web</a:t>
            </a:r>
          </a:p>
          <a:p>
            <a:r>
              <a:rPr lang="es-PA" dirty="0"/>
              <a:t>3.11. Manejo de formulario GET y POST. </a:t>
            </a:r>
          </a:p>
          <a:p>
            <a:r>
              <a:rPr lang="es-PA" dirty="0"/>
              <a:t>3.12. Seguridad en el manejo del formulario </a:t>
            </a:r>
          </a:p>
          <a:p>
            <a:r>
              <a:rPr lang="es-PA" dirty="0"/>
              <a:t>Include</a:t>
            </a:r>
          </a:p>
        </p:txBody>
      </p:sp>
    </p:spTree>
    <p:extLst>
      <p:ext uri="{BB962C8B-B14F-4D97-AF65-F5344CB8AC3E}">
        <p14:creationId xmlns:p14="http://schemas.microsoft.com/office/powerpoint/2010/main" val="1690771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BFD2A-2E9C-FE28-A2ED-1DF0C98E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Clases Necesarias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CAE461-C2FB-B05F-7DA6-1781FC473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PA" dirty="0"/>
              <a:t>HTML5</a:t>
            </a:r>
          </a:p>
          <a:p>
            <a:r>
              <a:rPr lang="es-PA" dirty="0"/>
              <a:t>Bootstrap</a:t>
            </a:r>
          </a:p>
          <a:p>
            <a:r>
              <a:rPr lang="es-PA" dirty="0"/>
              <a:t>Estructura </a:t>
            </a:r>
            <a:r>
              <a:rPr lang="es-PA" dirty="0" err="1"/>
              <a:t>If</a:t>
            </a:r>
            <a:endParaRPr lang="es-PA" dirty="0"/>
          </a:p>
          <a:p>
            <a:r>
              <a:rPr lang="es-PA" dirty="0"/>
              <a:t>Validaciones en PHP</a:t>
            </a:r>
          </a:p>
          <a:p>
            <a:r>
              <a:rPr lang="es-PA" dirty="0"/>
              <a:t>Include (PHP)</a:t>
            </a:r>
          </a:p>
          <a:p>
            <a:r>
              <a:rPr lang="es-PA" dirty="0" err="1"/>
              <a:t>basename</a:t>
            </a:r>
            <a:endParaRPr lang="es-PA" dirty="0"/>
          </a:p>
          <a:p>
            <a:r>
              <a:rPr lang="es-PA" dirty="0"/>
              <a:t>Formularios</a:t>
            </a:r>
          </a:p>
          <a:p>
            <a:r>
              <a:rPr lang="es-PA" dirty="0"/>
              <a:t>Subir archivo</a:t>
            </a:r>
            <a:r>
              <a:rPr lang="es-PA" u="sng" dirty="0"/>
              <a:t>s</a:t>
            </a:r>
            <a:endParaRPr lang="es-PA" dirty="0"/>
          </a:p>
          <a:p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1120613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518AA-17F3-5EC5-5F46-127B0555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Estructura de Carpetas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8F3420B-37FE-4102-C2A0-6072F7F1B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0438"/>
            <a:ext cx="10515600" cy="432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09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C2416-0DB7-14D7-545C-5D8224215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b="1" dirty="0"/>
              <a:t>Agregar los Metadatos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EA450A5-C5C5-04B4-BC02-20FF7E990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8423"/>
            <a:ext cx="10515600" cy="410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95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AE200-8A4C-0D27-59F2-9E4DD98E9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Metadatos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4BC480-3A5E-AE4E-54BD-54EAB5152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s-PA" b="1" dirty="0" err="1"/>
              <a:t>scale</a:t>
            </a:r>
            <a:r>
              <a:rPr lang="es-PA" b="1" dirty="0"/>
              <a:t>=1 (</a:t>
            </a:r>
            <a:r>
              <a:rPr lang="es-PA" b="1" dirty="0" err="1"/>
              <a:t>Viewport</a:t>
            </a:r>
            <a:r>
              <a:rPr lang="es-PA" b="1" dirty="0"/>
              <a:t>):</a:t>
            </a:r>
            <a:r>
              <a:rPr lang="es-PA" dirty="0"/>
              <a:t> El fragmento completo se llama etiqueta </a:t>
            </a:r>
            <a:r>
              <a:rPr lang="es-PA" b="1" dirty="0" err="1"/>
              <a:t>Viewport</a:t>
            </a:r>
            <a:r>
              <a:rPr lang="es-PA" dirty="0"/>
              <a:t> (&lt;meta </a:t>
            </a:r>
            <a:r>
              <a:rPr lang="es-PA" dirty="0" err="1"/>
              <a:t>name</a:t>
            </a:r>
            <a:r>
              <a:rPr lang="es-PA" dirty="0"/>
              <a:t>="</a:t>
            </a:r>
            <a:r>
              <a:rPr lang="es-PA" dirty="0" err="1"/>
              <a:t>viewport</a:t>
            </a:r>
            <a:r>
              <a:rPr lang="es-PA" dirty="0"/>
              <a:t>" </a:t>
            </a:r>
            <a:r>
              <a:rPr lang="es-PA" dirty="0" err="1"/>
              <a:t>content</a:t>
            </a:r>
            <a:r>
              <a:rPr lang="es-PA" dirty="0"/>
              <a:t>="</a:t>
            </a:r>
            <a:r>
              <a:rPr lang="es-PA" dirty="0" err="1"/>
              <a:t>width</a:t>
            </a:r>
            <a:r>
              <a:rPr lang="es-PA" dirty="0"/>
              <a:t>=</a:t>
            </a:r>
            <a:r>
              <a:rPr lang="es-PA" dirty="0" err="1"/>
              <a:t>device-width</a:t>
            </a:r>
            <a:r>
              <a:rPr lang="es-PA" dirty="0"/>
              <a:t>, </a:t>
            </a:r>
            <a:r>
              <a:rPr lang="es-PA" dirty="0" err="1"/>
              <a:t>initial-scale</a:t>
            </a:r>
            <a:r>
              <a:rPr lang="es-PA" dirty="0"/>
              <a:t>=1.0"&gt;). La propiedad específica </a:t>
            </a:r>
            <a:r>
              <a:rPr lang="es-PA" dirty="0" err="1"/>
              <a:t>initial-scale</a:t>
            </a:r>
            <a:r>
              <a:rPr lang="es-PA" dirty="0"/>
              <a:t>=1.0 le indica al navegador que el nivel de zoom inicial al cargar la página por primera vez debe ser del 100%, asegurando que el diseño responsivo de Bootstrap se adapte correctamente a dispositivos móviles.</a:t>
            </a:r>
          </a:p>
          <a:p>
            <a:pPr lvl="0"/>
            <a:r>
              <a:rPr lang="es-PA" b="1" dirty="0"/>
              <a:t>Autor (</a:t>
            </a:r>
            <a:r>
              <a:rPr lang="es-PA" b="1" dirty="0" err="1"/>
              <a:t>author</a:t>
            </a:r>
            <a:r>
              <a:rPr lang="es-PA" b="1" dirty="0"/>
              <a:t>):</a:t>
            </a:r>
            <a:r>
              <a:rPr lang="es-PA" dirty="0"/>
              <a:t> Se utiliza para indicar quién creó el sitio o la institución responsable (por ejemplo, &lt;meta </a:t>
            </a:r>
            <a:r>
              <a:rPr lang="es-PA" dirty="0" err="1"/>
              <a:t>name</a:t>
            </a:r>
            <a:r>
              <a:rPr lang="es-PA" dirty="0"/>
              <a:t>="</a:t>
            </a:r>
            <a:r>
              <a:rPr lang="es-PA" dirty="0" err="1"/>
              <a:t>author</a:t>
            </a:r>
            <a:r>
              <a:rPr lang="es-PA" dirty="0"/>
              <a:t>" </a:t>
            </a:r>
            <a:r>
              <a:rPr lang="es-PA" dirty="0" err="1"/>
              <a:t>content</a:t>
            </a:r>
            <a:r>
              <a:rPr lang="es-PA" dirty="0"/>
              <a:t>="Facultad de Ingeniería de Sistemas Computacionales - UTP"&gt;).</a:t>
            </a:r>
          </a:p>
          <a:p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3173099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9F30E-62C8-D668-89BA-C6DEB0A9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b="1" dirty="0"/>
              <a:t>Otros metadatos clave recomendados: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5C28D9-8418-B615-729E-DC151F2EA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0565"/>
            <a:ext cx="10515600" cy="3454298"/>
          </a:xfrm>
        </p:spPr>
        <p:txBody>
          <a:bodyPr/>
          <a:lstStyle/>
          <a:p>
            <a:pPr lvl="0"/>
            <a:r>
              <a:rPr lang="es-PA" b="1" dirty="0"/>
              <a:t>robots</a:t>
            </a:r>
            <a:r>
              <a:rPr lang="es-PA" dirty="0"/>
              <a:t>: (&lt;meta </a:t>
            </a:r>
            <a:r>
              <a:rPr lang="es-PA" dirty="0" err="1"/>
              <a:t>name</a:t>
            </a:r>
            <a:r>
              <a:rPr lang="es-PA" dirty="0"/>
              <a:t>="robots" </a:t>
            </a:r>
            <a:r>
              <a:rPr lang="es-PA" dirty="0" err="1"/>
              <a:t>content</a:t>
            </a:r>
            <a:r>
              <a:rPr lang="es-PA" dirty="0"/>
              <a:t>="</a:t>
            </a:r>
            <a:r>
              <a:rPr lang="es-PA" dirty="0" err="1"/>
              <a:t>noindex</a:t>
            </a:r>
            <a:r>
              <a:rPr lang="es-PA" dirty="0"/>
              <a:t>, </a:t>
            </a:r>
            <a:r>
              <a:rPr lang="es-PA" dirty="0" err="1"/>
              <a:t>nofollow</a:t>
            </a:r>
            <a:r>
              <a:rPr lang="es-PA" dirty="0"/>
              <a:t>"&gt;) Es muy útil en entornos académicos o de pruebas para evitar que los motores de búsqueda indexen páginas internas o de formularios en producción.</a:t>
            </a:r>
          </a:p>
          <a:p>
            <a:pPr lvl="0"/>
            <a:r>
              <a:rPr lang="es-PA" b="1" dirty="0" err="1"/>
              <a:t>theme</a:t>
            </a:r>
            <a:r>
              <a:rPr lang="es-PA" b="1" dirty="0"/>
              <a:t>-color</a:t>
            </a:r>
            <a:r>
              <a:rPr lang="es-PA" dirty="0"/>
              <a:t>: (&lt;meta </a:t>
            </a:r>
            <a:r>
              <a:rPr lang="es-PA" dirty="0" err="1"/>
              <a:t>name</a:t>
            </a:r>
            <a:r>
              <a:rPr lang="es-PA" dirty="0"/>
              <a:t>="</a:t>
            </a:r>
            <a:r>
              <a:rPr lang="es-PA" dirty="0" err="1"/>
              <a:t>theme</a:t>
            </a:r>
            <a:r>
              <a:rPr lang="es-PA" dirty="0"/>
              <a:t>-color" </a:t>
            </a:r>
            <a:r>
              <a:rPr lang="es-PA" dirty="0" err="1"/>
              <a:t>content</a:t>
            </a:r>
            <a:r>
              <a:rPr lang="es-PA" dirty="0"/>
              <a:t>="#212529"&gt;) Permite personalizar el color de la barra de navegación del navegador móvil (como Chrome en Android) para que combine con el diseño del sitio (en este caso, un tono oscuro).</a:t>
            </a:r>
          </a:p>
        </p:txBody>
      </p:sp>
    </p:spTree>
    <p:extLst>
      <p:ext uri="{BB962C8B-B14F-4D97-AF65-F5344CB8AC3E}">
        <p14:creationId xmlns:p14="http://schemas.microsoft.com/office/powerpoint/2010/main" val="85801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3C2199-C7BA-1B37-A833-B2E3D019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A" b="1" dirty="0"/>
              <a:t>Estructura del Taller: Registro de Aspirantes – Quiz #1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9A8FBF-02E3-D7CC-B3CB-52FE98563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PA" b="1" dirty="0"/>
              <a:t>Paso 1: Crear la estructura de carpetas en tu servidor </a:t>
            </a:r>
          </a:p>
          <a:p>
            <a:r>
              <a:rPr lang="es-PA" dirty="0"/>
              <a:t>En tu directorio local (por ejemplo, dentro de C:\wamp64\www\TallerAspirantes\), crea la siguiente estructura:</a:t>
            </a:r>
          </a:p>
          <a:p>
            <a:pPr lvl="0"/>
            <a:r>
              <a:rPr lang="es-PA" dirty="0"/>
              <a:t>Una carpeta llamada </a:t>
            </a:r>
            <a:r>
              <a:rPr lang="es-PA" dirty="0" err="1"/>
              <a:t>uploaded_files</a:t>
            </a:r>
            <a:r>
              <a:rPr lang="es-PA" dirty="0"/>
              <a:t>/ (aquí se guardarán las fotos).</a:t>
            </a:r>
          </a:p>
          <a:p>
            <a:pPr lvl="0"/>
            <a:r>
              <a:rPr lang="es-PA" dirty="0"/>
              <a:t>Un archivo </a:t>
            </a:r>
            <a:r>
              <a:rPr lang="es-PA" dirty="0" err="1"/>
              <a:t>index.php</a:t>
            </a:r>
            <a:r>
              <a:rPr lang="es-PA" dirty="0"/>
              <a:t> (el formulario HTML).</a:t>
            </a:r>
          </a:p>
          <a:p>
            <a:pPr lvl="0"/>
            <a:r>
              <a:rPr lang="es-PA" dirty="0"/>
              <a:t>Un archivo </a:t>
            </a:r>
            <a:r>
              <a:rPr lang="es-PA" dirty="0" err="1"/>
              <a:t>procesar.php</a:t>
            </a:r>
            <a:r>
              <a:rPr lang="es-PA" dirty="0"/>
              <a:t> (el </a:t>
            </a:r>
            <a:r>
              <a:rPr lang="es-PA" dirty="0" err="1"/>
              <a:t>backend</a:t>
            </a:r>
            <a:r>
              <a:rPr lang="es-PA" dirty="0"/>
              <a:t> que valida, formatea y guarda).</a:t>
            </a:r>
          </a:p>
          <a:p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421453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89E03-7C38-2D4F-D053-A09DE2BE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b="1" dirty="0"/>
              <a:t>Paso 2: El Formulario (</a:t>
            </a:r>
            <a:r>
              <a:rPr lang="es-PA" b="1" dirty="0" err="1"/>
              <a:t>index.php</a:t>
            </a:r>
            <a:r>
              <a:rPr lang="es-PA" b="1" dirty="0"/>
              <a:t>)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C49FFD-279D-1179-0263-26941BCE5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A" dirty="0"/>
              <a:t>Este archivo solicita los datos básicos, la identificación, fecha de nacimiento, sexo y la foto del aspirante. Es obligatorio el atributo </a:t>
            </a:r>
            <a:r>
              <a:rPr lang="es-PA" dirty="0" err="1"/>
              <a:t>enctype</a:t>
            </a:r>
            <a:r>
              <a:rPr lang="es-PA" dirty="0"/>
              <a:t>="</a:t>
            </a:r>
            <a:r>
              <a:rPr lang="es-PA" dirty="0" err="1"/>
              <a:t>multipart</a:t>
            </a:r>
            <a:r>
              <a:rPr lang="es-PA" dirty="0"/>
              <a:t>/</a:t>
            </a:r>
            <a:r>
              <a:rPr lang="es-PA" dirty="0" err="1"/>
              <a:t>form</a:t>
            </a:r>
            <a:r>
              <a:rPr lang="es-PA" dirty="0"/>
              <a:t>-data" para que el archivo de imagen pueda viajar al servidor.</a:t>
            </a:r>
          </a:p>
          <a:p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329298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8760AAD-CBA2-8BE3-B5D6-A52695577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657" y="227842"/>
            <a:ext cx="4686706" cy="599746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85368E4-8AA9-F83C-A42E-BB5B1D0EB123}"/>
              </a:ext>
            </a:extLst>
          </p:cNvPr>
          <p:cNvSpPr txBox="1"/>
          <p:nvPr/>
        </p:nvSpPr>
        <p:spPr>
          <a:xfrm>
            <a:off x="293156" y="6417923"/>
            <a:ext cx="4294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dirty="0"/>
              <a:t>http://127.1.1.1/Practicas/Proyecto1.php</a:t>
            </a:r>
          </a:p>
        </p:txBody>
      </p:sp>
    </p:spTree>
    <p:extLst>
      <p:ext uri="{BB962C8B-B14F-4D97-AF65-F5344CB8AC3E}">
        <p14:creationId xmlns:p14="http://schemas.microsoft.com/office/powerpoint/2010/main" val="1415900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2B0C8-33FB-D6EA-96CC-A13D4093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A" b="1" dirty="0"/>
              <a:t>Paso 3: El </a:t>
            </a:r>
            <a:r>
              <a:rPr lang="es-PA" b="1" dirty="0" err="1"/>
              <a:t>Backend</a:t>
            </a:r>
            <a:r>
              <a:rPr lang="es-PA" b="1" dirty="0"/>
              <a:t> Procesador (</a:t>
            </a:r>
            <a:r>
              <a:rPr lang="es-PA" b="1" dirty="0" err="1"/>
              <a:t>procesar.php</a:t>
            </a:r>
            <a:r>
              <a:rPr lang="es-PA" b="1" dirty="0"/>
              <a:t>)</a:t>
            </a:r>
            <a:br>
              <a:rPr lang="es-PA" b="1" dirty="0"/>
            </a:b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7B2E9A-99CF-B814-5D7A-3CFCFDE36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A" dirty="0"/>
              <a:t>Este script se encarga de:</a:t>
            </a:r>
          </a:p>
          <a:p>
            <a:pPr lvl="0"/>
            <a:r>
              <a:rPr lang="es-PA" dirty="0"/>
              <a:t>Validar que los campos no estén vacíos.</a:t>
            </a:r>
          </a:p>
          <a:p>
            <a:pPr lvl="0"/>
            <a:r>
              <a:rPr lang="es-PA" dirty="0"/>
              <a:t>Estandarizar la salida de los textos (convertir “norma" a “Norma").</a:t>
            </a:r>
          </a:p>
          <a:p>
            <a:pPr lvl="0"/>
            <a:r>
              <a:rPr lang="es-PA" dirty="0"/>
              <a:t>Calcular la edad a partir de la fecha de nacimiento y verificar que esté en el rango de </a:t>
            </a:r>
            <a:r>
              <a:rPr lang="es-PA" b="1" dirty="0"/>
              <a:t>18 a 70 años</a:t>
            </a:r>
            <a:r>
              <a:rPr lang="es-PA" dirty="0"/>
              <a:t>.</a:t>
            </a:r>
          </a:p>
          <a:p>
            <a:pPr lvl="0"/>
            <a:r>
              <a:rPr lang="es-PA" dirty="0"/>
              <a:t>Validar las extensiones de imagen permitidas (</a:t>
            </a:r>
            <a:r>
              <a:rPr lang="es-PA" dirty="0" err="1"/>
              <a:t>jpg</a:t>
            </a:r>
            <a:r>
              <a:rPr lang="es-PA" dirty="0"/>
              <a:t>, </a:t>
            </a:r>
            <a:r>
              <a:rPr lang="es-PA" dirty="0" err="1"/>
              <a:t>jpeg</a:t>
            </a:r>
            <a:r>
              <a:rPr lang="es-PA" dirty="0"/>
              <a:t>, png, gif, y agregamos </a:t>
            </a:r>
            <a:r>
              <a:rPr lang="es-PA" dirty="0" err="1"/>
              <a:t>webp</a:t>
            </a:r>
            <a:r>
              <a:rPr lang="es-PA" dirty="0"/>
              <a:t> como opción moderna muy común).</a:t>
            </a:r>
          </a:p>
          <a:p>
            <a:pPr lvl="0"/>
            <a:r>
              <a:rPr lang="es-PA" dirty="0"/>
              <a:t>Guardar la foto de forma segura en la carpeta ./</a:t>
            </a:r>
            <a:r>
              <a:rPr lang="es-PA" dirty="0" err="1"/>
              <a:t>uploaded_files</a:t>
            </a:r>
            <a:r>
              <a:rPr lang="es-PA" dirty="0"/>
              <a:t>/.</a:t>
            </a:r>
          </a:p>
        </p:txBody>
      </p:sp>
    </p:spTree>
    <p:extLst>
      <p:ext uri="{BB962C8B-B14F-4D97-AF65-F5344CB8AC3E}">
        <p14:creationId xmlns:p14="http://schemas.microsoft.com/office/powerpoint/2010/main" val="2958299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7D5DA-80E0-3132-8521-5F287C44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Campos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1D0AC8-270C-B078-59E8-B1C30C5B7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89059"/>
          </a:xfrm>
        </p:spPr>
        <p:txBody>
          <a:bodyPr/>
          <a:lstStyle/>
          <a:p>
            <a:r>
              <a:rPr lang="es-PA" dirty="0"/>
              <a:t>Fecha de tipo date (</a:t>
            </a:r>
            <a:r>
              <a:rPr lang="es-PA" dirty="0" err="1"/>
              <a:t>type</a:t>
            </a:r>
            <a:r>
              <a:rPr lang="es-PA" dirty="0"/>
              <a:t>=“date”)</a:t>
            </a:r>
          </a:p>
          <a:p>
            <a:r>
              <a:rPr lang="es-PA" dirty="0"/>
              <a:t>Nombre, Apellido, Identificación (</a:t>
            </a:r>
            <a:r>
              <a:rPr lang="es-PA" dirty="0" err="1"/>
              <a:t>type</a:t>
            </a:r>
            <a:r>
              <a:rPr lang="es-PA" dirty="0"/>
              <a:t> = “Text”)</a:t>
            </a:r>
          </a:p>
          <a:p>
            <a:r>
              <a:rPr lang="es-PA" dirty="0"/>
              <a:t>Los campos son requeridos.</a:t>
            </a:r>
          </a:p>
          <a:p>
            <a:r>
              <a:rPr lang="es-PA" dirty="0"/>
              <a:t>Utilizar el atributo placeholder para indicar al usuario el formato o dato que debe ingresar en el campo.</a:t>
            </a:r>
          </a:p>
        </p:txBody>
      </p:sp>
    </p:spTree>
    <p:extLst>
      <p:ext uri="{BB962C8B-B14F-4D97-AF65-F5344CB8AC3E}">
        <p14:creationId xmlns:p14="http://schemas.microsoft.com/office/powerpoint/2010/main" val="3248329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25663-F853-F3AF-9140-133268B0C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b="1" dirty="0"/>
              <a:t>1. Funciones de Saneamiento y Seguridad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26AD09-C0D6-78E8-3DC8-A0B116C39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PA" b="1" dirty="0" err="1"/>
              <a:t>htmlspecialchars</a:t>
            </a:r>
            <a:r>
              <a:rPr lang="es-PA" b="1" dirty="0"/>
              <a:t>()</a:t>
            </a:r>
            <a:r>
              <a:rPr lang="es-PA" dirty="0"/>
              <a:t>: Convierte caracteres especiales (como &lt;, &gt;, &amp;, ', ") en entidades HTML seguras. Su propósito principal es </a:t>
            </a:r>
            <a:r>
              <a:rPr lang="es-PA" b="1" dirty="0"/>
              <a:t>prevenir ataques de tipo XSS (Cross-Site Scripting)</a:t>
            </a:r>
            <a:r>
              <a:rPr lang="es-PA" dirty="0"/>
              <a:t>, evitando que un usuario malintencionado inyecte código JavaScript o etiquetas HTML maliciosas en los campos de texto.</a:t>
            </a:r>
          </a:p>
          <a:p>
            <a:pPr lvl="0"/>
            <a:r>
              <a:rPr lang="es-PA" b="1" dirty="0" err="1"/>
              <a:t>strip_tags</a:t>
            </a:r>
            <a:r>
              <a:rPr lang="es-PA" b="1" dirty="0"/>
              <a:t>()</a:t>
            </a:r>
            <a:r>
              <a:rPr lang="es-PA" dirty="0"/>
              <a:t>: Elimina por completo todas las etiquetas HTML, XML y PHP de una cadena de texto. Es útil cuando se desea recibir texto plano estricto en campos como nombres o apellidos, descartando cualquier código extraño.</a:t>
            </a:r>
          </a:p>
          <a:p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1720715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86165-09D9-ECB7-2D8A-E331A06E7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A" b="1" dirty="0"/>
              <a:t>2. Funciones de Normalización y Limpieza de Espacios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935EF6-1BA2-5FF0-0D75-A0C24CDC7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s-PA" b="1" dirty="0" err="1"/>
              <a:t>trim</a:t>
            </a:r>
            <a:r>
              <a:rPr lang="es-PA" b="1" dirty="0"/>
              <a:t>()</a:t>
            </a:r>
            <a:r>
              <a:rPr lang="es-PA" dirty="0"/>
              <a:t>: Elimina los espacios en blanco innecesarios (así como tabulaciones o saltos de línea) ubicados tanto al inicio como al final de la cadena de texto ingresada.</a:t>
            </a:r>
          </a:p>
          <a:p>
            <a:pPr lvl="0"/>
            <a:r>
              <a:rPr lang="es-PA" b="1" dirty="0" err="1"/>
              <a:t>ucwords</a:t>
            </a:r>
            <a:r>
              <a:rPr lang="es-PA" b="1" dirty="0"/>
              <a:t>(</a:t>
            </a:r>
            <a:r>
              <a:rPr lang="es-PA" b="1" dirty="0" err="1"/>
              <a:t>strtolower</a:t>
            </a:r>
            <a:r>
              <a:rPr lang="es-PA" b="1" dirty="0"/>
              <a:t>())</a:t>
            </a:r>
            <a:r>
              <a:rPr lang="es-PA" dirty="0"/>
              <a:t>: Permite normalizar el texto a </a:t>
            </a:r>
            <a:r>
              <a:rPr lang="es-PA" b="1" dirty="0"/>
              <a:t>Formato Tipo Título</a:t>
            </a:r>
            <a:r>
              <a:rPr lang="es-PA" dirty="0"/>
              <a:t> (la primera letra de cada palabra en mayúscula y el resto en minúscula). Primero se convierte toda la cadena a minúsculas con </a:t>
            </a:r>
            <a:r>
              <a:rPr lang="es-PA" dirty="0" err="1"/>
              <a:t>strtolower</a:t>
            </a:r>
            <a:r>
              <a:rPr lang="es-PA" dirty="0"/>
              <a:t>() para evitar inconsistencias y luego se aplica </a:t>
            </a:r>
            <a:r>
              <a:rPr lang="es-PA" dirty="0" err="1"/>
              <a:t>ucwords</a:t>
            </a:r>
            <a:r>
              <a:rPr lang="es-PA" dirty="0"/>
              <a:t>(). </a:t>
            </a:r>
            <a:r>
              <a:rPr lang="es-PA" b="1" dirty="0">
                <a:solidFill>
                  <a:srgbClr val="C00000"/>
                </a:solidFill>
              </a:rPr>
              <a:t>Aplicar a Nombre y Apellido.</a:t>
            </a:r>
          </a:p>
          <a:p>
            <a:pPr lvl="0"/>
            <a:r>
              <a:rPr lang="es-PA" b="1" dirty="0" err="1"/>
              <a:t>strtoupper</a:t>
            </a:r>
            <a:r>
              <a:rPr lang="es-PA" b="1" dirty="0"/>
              <a:t>()</a:t>
            </a:r>
            <a:r>
              <a:rPr lang="es-PA" dirty="0"/>
              <a:t>: Convierte toda la cadena de texto a </a:t>
            </a:r>
            <a:r>
              <a:rPr lang="es-PA" b="1" dirty="0"/>
              <a:t>Mayúsculas Cerradas</a:t>
            </a:r>
            <a:r>
              <a:rPr lang="es-PA" dirty="0"/>
              <a:t>, ideal para campos como identificaciones, códigos o siglas. </a:t>
            </a:r>
          </a:p>
          <a:p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2435289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C831B53-F7A3-D996-04B9-82C50FA36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04959"/>
          </a:xfrm>
          <a:prstGeom prst="rect">
            <a:avLst/>
          </a:prstGeom>
        </p:spPr>
      </p:pic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7B5A881E-D640-AAE6-17FE-1EABBD0F66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710" y="617297"/>
            <a:ext cx="5942871" cy="615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145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96780-BFF9-87F7-41F6-9152E090D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b="1" dirty="0"/>
              <a:t>Los Requerimientos Técnicos (La Rúbrica):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7E1FB0-4E74-7716-4182-0802D4102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s-PA" dirty="0"/>
              <a:t>Maquetar la interfaz usando </a:t>
            </a:r>
            <a:r>
              <a:rPr lang="es-PA" b="1" dirty="0"/>
              <a:t>Bootstrap</a:t>
            </a:r>
            <a:r>
              <a:rPr lang="es-PA" dirty="0"/>
              <a:t> y etiquetas semánticas (&lt;</a:t>
            </a:r>
            <a:r>
              <a:rPr lang="es-PA" dirty="0" err="1"/>
              <a:t>header</a:t>
            </a:r>
            <a:r>
              <a:rPr lang="es-PA" dirty="0"/>
              <a:t>&gt;, &lt;</a:t>
            </a:r>
            <a:r>
              <a:rPr lang="es-PA" dirty="0" err="1"/>
              <a:t>main</a:t>
            </a:r>
            <a:r>
              <a:rPr lang="es-PA" dirty="0"/>
              <a:t>&gt;, &lt;</a:t>
            </a:r>
            <a:r>
              <a:rPr lang="es-PA" dirty="0" err="1"/>
              <a:t>section</a:t>
            </a:r>
            <a:r>
              <a:rPr lang="es-PA" dirty="0"/>
              <a:t>&gt;, &lt;</a:t>
            </a:r>
            <a:r>
              <a:rPr lang="es-PA" dirty="0" err="1"/>
              <a:t>footer</a:t>
            </a:r>
            <a:r>
              <a:rPr lang="es-PA" dirty="0"/>
              <a:t>&gt;).</a:t>
            </a:r>
          </a:p>
          <a:p>
            <a:pPr lvl="0"/>
            <a:r>
              <a:rPr lang="es-PA" dirty="0"/>
              <a:t>En la sección del &lt;</a:t>
            </a:r>
            <a:r>
              <a:rPr lang="es-PA" dirty="0" err="1"/>
              <a:t>main</a:t>
            </a:r>
            <a:r>
              <a:rPr lang="es-PA" dirty="0"/>
              <a:t>&gt;&lt;</a:t>
            </a:r>
            <a:r>
              <a:rPr lang="es-PA" dirty="0" err="1"/>
              <a:t>section</a:t>
            </a:r>
            <a:r>
              <a:rPr lang="es-PA" dirty="0"/>
              <a:t>&gt; debe ir el formulario.</a:t>
            </a:r>
          </a:p>
          <a:p>
            <a:pPr lvl="0"/>
            <a:r>
              <a:rPr lang="es-PA" dirty="0"/>
              <a:t>Modularizar el menú y las migas de pan usando </a:t>
            </a:r>
            <a:r>
              <a:rPr lang="es-PA" b="1" dirty="0" err="1"/>
              <a:t>include</a:t>
            </a:r>
            <a:r>
              <a:rPr lang="es-PA" b="1" dirty="0"/>
              <a:t> &lt;</a:t>
            </a:r>
            <a:r>
              <a:rPr lang="es-PA" b="1" dirty="0" err="1"/>
              <a:t>header</a:t>
            </a:r>
            <a:r>
              <a:rPr lang="es-PA" b="1" dirty="0"/>
              <a:t>&gt;</a:t>
            </a:r>
            <a:endParaRPr lang="es-PA" dirty="0"/>
          </a:p>
          <a:p>
            <a:pPr lvl="0"/>
            <a:r>
              <a:rPr lang="es-PA" dirty="0"/>
              <a:t>Procesar el formulario en el </a:t>
            </a:r>
            <a:r>
              <a:rPr lang="es-PA" dirty="0" err="1"/>
              <a:t>backend</a:t>
            </a:r>
            <a:r>
              <a:rPr lang="es-PA" dirty="0"/>
              <a:t> validando que la edad esté entre 18 y 70 años.</a:t>
            </a:r>
          </a:p>
          <a:p>
            <a:pPr lvl="0"/>
            <a:r>
              <a:rPr lang="es-PA" dirty="0"/>
              <a:t>Estandarizar el nombre y apellido a formato tipo título (ej. “</a:t>
            </a:r>
            <a:r>
              <a:rPr lang="es-PA" dirty="0" err="1"/>
              <a:t>sofia</a:t>
            </a:r>
            <a:r>
              <a:rPr lang="es-PA" dirty="0"/>
              <a:t>" a “Sofía”.</a:t>
            </a:r>
            <a:endParaRPr lang="es-PA" b="1" dirty="0"/>
          </a:p>
          <a:p>
            <a:pPr lvl="0"/>
            <a:r>
              <a:rPr lang="es-PA" dirty="0"/>
              <a:t>Subir y guardar de forma segura la foto en una carpeta específica del proyecto sin usar base de dato. Aplicar seguridad a la carpeta de las fotos, de tal modo que no pueda ser accedida desde el navegador.</a:t>
            </a:r>
          </a:p>
          <a:p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3963945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608E8-DF30-28B4-EBBA-4C41F529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s-PA" dirty="0"/>
              <a:t>&lt;</a:t>
            </a:r>
            <a:r>
              <a:rPr lang="es-PA" dirty="0" err="1"/>
              <a:t>footer</a:t>
            </a:r>
            <a:r>
              <a:rPr lang="es-PA" dirty="0"/>
              <a:t>&gt;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12D98E-66B2-BEED-C766-4267C582D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831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s-PA" dirty="0"/>
              <a:t>Un pie de página (</a:t>
            </a:r>
            <a:r>
              <a:rPr lang="es-PA" dirty="0" err="1"/>
              <a:t>footer</a:t>
            </a:r>
            <a:r>
              <a:rPr lang="es-PA" dirty="0"/>
              <a:t>) profesional y completo suele estructurarse con cuatro elementos clave que combinan legalidad, utilidad y diseño:</a:t>
            </a:r>
          </a:p>
          <a:p>
            <a:pPr lvl="0"/>
            <a:r>
              <a:rPr lang="es-PA" b="1" dirty="0"/>
              <a:t>Derechos de autor (Copyright) y año dinámico:</a:t>
            </a:r>
            <a:r>
              <a:rPr lang="es-PA" dirty="0"/>
              <a:t> El aviso legal indispensable. Agregar el año con PHP usando echo date('Y'); para que la página siempre se mantenga al día.</a:t>
            </a:r>
          </a:p>
          <a:p>
            <a:pPr lvl="0"/>
            <a:r>
              <a:rPr lang="es-PA" b="1" dirty="0"/>
              <a:t>Redes sociales y contacto:</a:t>
            </a:r>
            <a:r>
              <a:rPr lang="es-PA" dirty="0"/>
              <a:t> Enlaces o iconos minimalistas (que pueden integrar fácilmente con herramientas como Bootstrap </a:t>
            </a:r>
            <a:r>
              <a:rPr lang="es-PA" dirty="0" err="1"/>
              <a:t>Icons</a:t>
            </a:r>
            <a:r>
              <a:rPr lang="es-PA" dirty="0"/>
              <a:t>) hacia perfiles profesionales como GitHub, LinkedIn, o un correo de soporte técnico.</a:t>
            </a:r>
          </a:p>
          <a:p>
            <a:pPr lvl="0"/>
            <a:r>
              <a:rPr lang="es-PA" b="1" dirty="0"/>
              <a:t>Enlaces rápidos (Quick Links):</a:t>
            </a:r>
            <a:r>
              <a:rPr lang="es-PA" dirty="0"/>
              <a:t> Accesos directos secundarios a secciones clave de la plataforma (como el inicio, políticas de privacidad o términos de uso), lo cual mejora la navegación general del sitio. (Opcional)</a:t>
            </a:r>
          </a:p>
          <a:p>
            <a:pPr lvl="0"/>
            <a:r>
              <a:rPr lang="es-PA" b="1" dirty="0"/>
              <a:t>Breve eslogan institucional:</a:t>
            </a:r>
            <a:r>
              <a:rPr lang="es-PA" dirty="0"/>
              <a:t> Una línea corta que identifique el propósito del portal, el nombre de la Carrera, y la UTP.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AE103CD-E307-F38D-04C3-5E5C4CDFE5CD}"/>
              </a:ext>
            </a:extLst>
          </p:cNvPr>
          <p:cNvSpPr txBox="1">
            <a:spLocks/>
          </p:cNvSpPr>
          <p:nvPr/>
        </p:nvSpPr>
        <p:spPr>
          <a:xfrm>
            <a:off x="838200" y="5813169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A" dirty="0"/>
              <a:t>&lt;/</a:t>
            </a:r>
            <a:r>
              <a:rPr lang="es-PA" dirty="0" err="1"/>
              <a:t>footer</a:t>
            </a:r>
            <a:r>
              <a:rPr lang="es-PA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67222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0F3B52-4EC2-C91F-88FE-0D1D466B7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78" y="369305"/>
            <a:ext cx="10196444" cy="61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5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6D5255E-45B1-8CE1-6429-DABD937D944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CB1A06-B7E3-4089-12D0-45F65DDDE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A" dirty="0"/>
              <a:t>Los archivos que deben ser incluidos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61E229F-0193-8687-B2F9-3211CCCAC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40724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50466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286344-7BA5-5EBC-4C4C-065201BCF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PA" sz="4000" b="1">
                <a:solidFill>
                  <a:srgbClr val="FFFFFF"/>
                </a:solidFill>
              </a:rPr>
              <a:t>Otros Requisitos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93D064A-5AF9-5AE8-52EF-05F6F67D5C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344129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4563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1192</Words>
  <Application>Microsoft Office PowerPoint</Application>
  <PresentationFormat>Panorámica</PresentationFormat>
  <Paragraphs>88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de Office</vt:lpstr>
      <vt:lpstr>Laboratorio #3 </vt:lpstr>
      <vt:lpstr>Contenido del Laboratorio</vt:lpstr>
      <vt:lpstr>Clases Necesarias</vt:lpstr>
      <vt:lpstr>Estructura de Carpetas</vt:lpstr>
      <vt:lpstr>Agregar los Metadatos</vt:lpstr>
      <vt:lpstr>Metadatos </vt:lpstr>
      <vt:lpstr>Otros metadatos clave recomendados:</vt:lpstr>
      <vt:lpstr>Estructura del Taller: Registro de Aspirantes – Quiz #1</vt:lpstr>
      <vt:lpstr>Paso 2: El Formulario (index.php)</vt:lpstr>
      <vt:lpstr>Presentación de PowerPoint</vt:lpstr>
      <vt:lpstr>Paso 3: El Backend Procesador (procesar.php) </vt:lpstr>
      <vt:lpstr>Campos</vt:lpstr>
      <vt:lpstr>1. Funciones de Saneamiento y Seguridad</vt:lpstr>
      <vt:lpstr>2. Funciones de Normalización y Limpieza de Espacios</vt:lpstr>
      <vt:lpstr>Presentación de PowerPoint</vt:lpstr>
      <vt:lpstr>Los Requerimientos Técnicos (La Rúbrica):</vt:lpstr>
      <vt:lpstr>&lt;footer&gt;</vt:lpstr>
      <vt:lpstr>Presentación de PowerPoint</vt:lpstr>
      <vt:lpstr>Los archivos que deben ser incluidos</vt:lpstr>
      <vt:lpstr>Otros Requisitos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IRINA FONG</dc:creator>
  <cp:lastModifiedBy>IRINA FONG</cp:lastModifiedBy>
  <cp:revision>15</cp:revision>
  <dcterms:created xsi:type="dcterms:W3CDTF">2026-09-12T05:46:09Z</dcterms:created>
  <dcterms:modified xsi:type="dcterms:W3CDTF">2026-09-19T16:57:52Z</dcterms:modified>
</cp:coreProperties>
</file>